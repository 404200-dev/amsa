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https://amsa.com.cy/ — AMSA project image and public practice positioning
- https://www.404200.ai/ — 404200 visual identity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https://amsa.com.cy/competitions-awards/ — awards page structure and AMSA-owned imagery
- https://amsa.com.cy/about-us/ — practice history and positioning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https://www.404200.ai/ — current 404200 Foundation plan and service model
- https://developers.google.com/search/docs/fundamentals/seo-starter-guide — common SEO work areas
Monthly quantities are proposal terms, not claims sourced from the cited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https://developers.google.com/search/docs/fundamentals/seo-starter-guide — definition and core practices of SEO
- https://amsa.com.cy/wp-content/uploads/2023/10/0021-02-1024x451.jpg — AMSA project image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https://developers.google.com/search/docs/fundamentals/seo-starter-guide — technical, content, titles and links
- https://support.google.com/business/answer/7091 — local relevance, distance and prominence
- https://developers.google.com/search/docs/essentials/spam-policies — off-page/link-policy guardrails
- https://developers.google.com/search/docs/fundamentals/creating-helpful-content — people-first, first-hand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https://developers.google.com/search/docs/fundamentals/creating-helpful-content — people-first and first-hand content principles
- https://amsa.com.cy/wp-content/uploads/2023/10/0001-01.jpg — AMSA project image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https://www.google.com/business/
- https://www.bingplaces.com/
- https://business.apple.com/
- https://www.linkedin.com/
- https://www.instagram.com/
- https://www.facebook.com/pages/create
- https://business.pinterest.com/
- https://www.youtube.com/
- https://vimeo.com/
- https://www.houzz.com/pro
- https://architizer.com/
- https://archello.com/
- https://www.archdaily.com/submit-a-project
- https://www.dezeen.com/submissions/
- https://www.designboom.com/submissions/
- https://world-architects.com/
- https://www.behance.net/
- https://issuu.com/
- https://github.com/
- https://www.etek.org.cy/
Availability, eligibility, fees and editorial acceptance must be confirmed before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https://www.404200.ai/ — 404200 brand illustration
- Account-ownership process is a proposed operating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https://elementor.com/help/wordpress-and-elementor-2/ — Elementor operates with WordPress
- https://elementor.com/help/the-elementor-theme-builder/ — reusable site-part templates
- https://developers.google.com/search/docs/crawling-indexing/site-move-with-url-changes — preserving URLs, redirects and monitoring during site changes
- https://amsa.com.cy/wp-content/uploads/2023/12/1007-02.jpg — AMSA project image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https://developers.google.com/search/docs/crawling-indexing/site-move-with-url-changes — inventory, URL mapping, redirects, testing and monitoring
- https://web.dev/articles/vitals — loading, interactivity and visual stability
The 8–12 week range is a scoped proposal estimate for the current public website, subject to access, approved material and hidden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https://developers.google.com/search/docs/appearance/core-updates — effects can take days to several months; no guarantee
- https://ahrefs.com/blog/how-long-does-seo-take/ — poll-based 3–6 month expectation
- https://www.semrush.com/blog/how-long-does-seo-take/ — 4–12 month industry planning range
- https://developers.google.com/search/docs/crawling-indexing/site-move-with-url-changes — recrawling and reindexing take time
The slide presents a planning model, not a guarantee of timing or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https://support.google.com/webmasters/answer/7576553 — search impressions, clicks, queries and pages
- https://developers.google.com/search/docs/appearance/core-updates — changes require time to be assessed by search systems
Roadmap and cancellation language are proposal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https://support.google.com/webmasters/answer/7576553 — clicks, impressions, CTR, position, queries and pages
- https://support.google.com/analytics/answer/13965727 — key events for important website actions
- https://www.404200.ai/ — AMSA villa image reproduced on 404200 selected work with AMSA attribution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https://www.404200.ai/ — 404200 Foundation plan public monthly price
- Payment and termination terms are proposal terms and must be completed with legal entity details before 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https://amsa.com.cy/ — AMSA project image
- https://www.404200.ai/ — 404200 logo and visual identity
Decision steps are proposal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Desktop\CLEINTS PITCH\tmp\amsa_meeting_pack\converted\AMSA_residential_0066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720821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943600" cy="6565392"/>
          </a:xfrm>
          <a:prstGeom prst="rect">
            <a:avLst/>
          </a:prstGeom>
          <a:solidFill>
            <a:srgbClr val="FFFAF0"/>
          </a:solidFill>
          <a:ln w="12700">
            <a:solidFill>
              <a:srgbClr val="FFFAF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21792" y="621792"/>
            <a:ext cx="292608" cy="292608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78992" y="6126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11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× AMSA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1508760"/>
            <a:ext cx="4160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AMSA,</a:t>
            </a:r>
            <a:endParaRPr lang="en-US" sz="5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easier to find.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310128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Search, content, social and a maintainable website — one connected operating system.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59070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15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PROPOSAL  /  20 OCTOBER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 is visible. The thinking deserves equal visibility.</a:t>
            </a:r>
            <a:endParaRPr lang="en-US" sz="3800" dirty="0"/>
          </a:p>
        </p:txBody>
      </p:sp>
      <p:pic>
        <p:nvPicPr>
          <p:cNvPr id="4" name="Image 0" descr="C:\Users\User\Desktop\CLEINTS PITCH\tmp\amsa_meeting_pack\converted\AMSA_award_1006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828800"/>
            <a:ext cx="50749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5321808"/>
            <a:ext cx="5074920" cy="804672"/>
          </a:xfrm>
          <a:prstGeom prst="rect">
            <a:avLst/>
          </a:prstGeom>
          <a:solidFill>
            <a:srgbClr val="000000">
              <a:alpha val="94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5504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visual archive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2880360" y="55046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add searchable project stories.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36208" y="182880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03136" y="181051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work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803136" y="2103120"/>
            <a:ext cx="4599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isolated project codes with descriptive titles where confidentiality permits.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803136" y="2743200"/>
            <a:ext cx="4599432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36208" y="2999232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03136" y="2980944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response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803136" y="3273552"/>
            <a:ext cx="4599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Brief, context, constraints, material choices, collaborators, awards and outcomes.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803136" y="3913632"/>
            <a:ext cx="4599432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36208" y="4169664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803136" y="4151376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evidence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803136" y="4443984"/>
            <a:ext cx="4599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 each project to relevant services, locations, related work and contact routes.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803136" y="5084064"/>
            <a:ext cx="4599432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36208" y="541324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website already proves AMSA can design. The next layer helps a prospective client understand why AMSA is the right practice for a specific brief.</a:t>
            </a:r>
            <a:endParaRPr lang="en-US" sz="1750" dirty="0"/>
          </a:p>
        </p:txBody>
      </p:sp>
      <p:sp>
        <p:nvSpPr>
          <p:cNvPr id="21" name="Shap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MONTHLY SERVICE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835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month produces visible work — not a stack of recommendations.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21792" y="1874520"/>
            <a:ext cx="2971800" cy="146304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21284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1671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21792" y="3035808"/>
            <a:ext cx="274320" cy="0"/>
          </a:xfrm>
          <a:prstGeom prst="line">
            <a:avLst/>
          </a:prstGeom>
          <a:noFill/>
          <a:ln w="38100">
            <a:solidFill>
              <a:srgbClr val="FF41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28803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 + opportunity map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21792" y="3995928"/>
            <a:ext cx="274320" cy="0"/>
          </a:xfrm>
          <a:prstGeom prst="line">
            <a:avLst/>
          </a:prstGeom>
          <a:noFill/>
          <a:ln w="38100">
            <a:solidFill>
              <a:srgbClr val="FF41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384048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crawl + index review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621792" y="4956048"/>
            <a:ext cx="274320" cy="0"/>
          </a:xfrm>
          <a:prstGeom prst="line">
            <a:avLst/>
          </a:prstGeom>
          <a:noFill/>
          <a:ln w="38100">
            <a:solidFill>
              <a:srgbClr val="FF41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8992" y="480060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priority page improvements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3977640" y="1874520"/>
            <a:ext cx="2971800" cy="146304"/>
          </a:xfrm>
          <a:prstGeom prst="rect">
            <a:avLst/>
          </a:prstGeom>
          <a:solidFill>
            <a:srgbClr val="19E08E"/>
          </a:solidFill>
          <a:ln w="12700">
            <a:solidFill>
              <a:srgbClr val="19E08E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77640" y="221284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21671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977640" y="3035808"/>
            <a:ext cx="274320" cy="0"/>
          </a:xfrm>
          <a:prstGeom prst="line">
            <a:avLst/>
          </a:prstGeom>
          <a:noFill/>
          <a:ln w="38100">
            <a:solidFill>
              <a:srgbClr val="19E08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4840" y="28803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project story or blog article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3977640" y="3995928"/>
            <a:ext cx="274320" cy="0"/>
          </a:xfrm>
          <a:prstGeom prst="line">
            <a:avLst/>
          </a:prstGeom>
          <a:noFill/>
          <a:ln w="38100">
            <a:solidFill>
              <a:srgbClr val="19E08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34840" y="384048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core social stories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3977640" y="4956048"/>
            <a:ext cx="274320" cy="0"/>
          </a:xfrm>
          <a:prstGeom prst="line">
            <a:avLst/>
          </a:prstGeom>
          <a:noFill/>
          <a:ln w="38100">
            <a:solidFill>
              <a:srgbClr val="19E08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34840" y="480060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eight channel publications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7333488" y="1874520"/>
            <a:ext cx="2971800" cy="146304"/>
          </a:xfrm>
          <a:prstGeom prst="rect">
            <a:avLst/>
          </a:prstGeom>
          <a:solidFill>
            <a:srgbClr val="FFDA29"/>
          </a:solidFill>
          <a:ln w="12700">
            <a:solidFill>
              <a:srgbClr val="FFDA29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33488" y="221284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900416" y="21671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33488" y="3035808"/>
            <a:ext cx="274320" cy="0"/>
          </a:xfrm>
          <a:prstGeom prst="line">
            <a:avLst/>
          </a:prstGeom>
          <a:noFill/>
          <a:ln w="38100">
            <a:solidFill>
              <a:srgbClr val="FFDA2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90688" y="28803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profile care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7333488" y="3995928"/>
            <a:ext cx="274320" cy="0"/>
          </a:xfrm>
          <a:prstGeom prst="line">
            <a:avLst/>
          </a:prstGeom>
          <a:noFill/>
          <a:ln w="38100">
            <a:solidFill>
              <a:srgbClr val="FFDA2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90688" y="384048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authority opportunities</a:t>
            </a:r>
            <a:endParaRPr lang="en-US" sz="1750" dirty="0"/>
          </a:p>
        </p:txBody>
      </p:sp>
      <p:sp>
        <p:nvSpPr>
          <p:cNvPr id="29" name="Shape 27"/>
          <p:cNvSpPr/>
          <p:nvPr/>
        </p:nvSpPr>
        <p:spPr>
          <a:xfrm>
            <a:off x="7333488" y="4956048"/>
            <a:ext cx="274320" cy="0"/>
          </a:xfrm>
          <a:prstGeom prst="line">
            <a:avLst/>
          </a:prstGeom>
          <a:noFill/>
          <a:ln w="38100">
            <a:solidFill>
              <a:srgbClr val="FFDA2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90688" y="480060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log + review call</a:t>
            </a:r>
            <a:endParaRPr lang="en-US" sz="1750" dirty="0"/>
          </a:p>
        </p:txBody>
      </p:sp>
      <p:sp>
        <p:nvSpPr>
          <p:cNvPr id="31" name="Shape 29"/>
          <p:cNvSpPr/>
          <p:nvPr/>
        </p:nvSpPr>
        <p:spPr>
          <a:xfrm>
            <a:off x="621792" y="5806440"/>
            <a:ext cx="9683496" cy="43891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0392" y="5925312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PLUS  /  routine website care  ·  one clear priority queue  ·  evidence of every completed item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SEO IN PLAIN LANGUAGE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835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visibility works like a well-resolved architectural submission.</a:t>
            </a:r>
            <a:endParaRPr lang="en-US" sz="3800" dirty="0"/>
          </a:p>
        </p:txBody>
      </p:sp>
      <p:pic>
        <p:nvPicPr>
          <p:cNvPr id="4" name="Image 0" descr="C:\Users\User\Desktop\CLEINTS PITCH\tmp\amsa_meeting_pack\converted\AMSA_home_0021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737360"/>
            <a:ext cx="5120640" cy="4462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1847088"/>
            <a:ext cx="5285232" cy="4096512"/>
          </a:xfrm>
          <a:prstGeom prst="rect">
            <a:avLst/>
          </a:prstGeom>
          <a:solidFill>
            <a:srgbClr val="FFFAF0"/>
          </a:solidFill>
          <a:ln w="15240">
            <a:solidFill>
              <a:srgbClr val="0000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21031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0848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880360" y="2075688"/>
            <a:ext cx="2578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submission can be opened and read.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896112" y="2688336"/>
            <a:ext cx="4553712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28163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7980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ON-PAGE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80360" y="2788920"/>
            <a:ext cx="2578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drawing has a useful title and explanation.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896112" y="3401568"/>
            <a:ext cx="4553712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6112" y="352958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511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880360" y="3502152"/>
            <a:ext cx="2578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practice and location are easy to verify.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896112" y="4114800"/>
            <a:ext cx="4553712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424281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422452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OFF-PAGE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880360" y="4215384"/>
            <a:ext cx="2578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Credible juries, publishers and collaborators refer to the work.</a:t>
            </a:r>
            <a:endParaRPr lang="en-US" sz="1650" dirty="0"/>
          </a:p>
        </p:txBody>
      </p:sp>
      <p:sp>
        <p:nvSpPr>
          <p:cNvPr id="21" name="Shape 18"/>
          <p:cNvSpPr/>
          <p:nvPr/>
        </p:nvSpPr>
        <p:spPr>
          <a:xfrm>
            <a:off x="896112" y="4828032"/>
            <a:ext cx="4553712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6112" y="49560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49377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880360" y="4928616"/>
            <a:ext cx="25786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evidence is complete enough to support a decision.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528523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describes SEO as helping search engines understand content — and helping people decide whether to visit.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THE FIVE OPERATING LAYERS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744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Each layer solves a different visibility problem.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21792" y="1783080"/>
            <a:ext cx="164592" cy="71323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7552" y="18745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91056" y="1819656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3858768" y="1847088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Reach, crawl, index, speed, mobile, forms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87552" y="2496312"/>
            <a:ext cx="978408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642616"/>
            <a:ext cx="164592" cy="713232"/>
          </a:xfrm>
          <a:prstGeom prst="rect">
            <a:avLst/>
          </a:prstGeom>
          <a:solidFill>
            <a:srgbClr val="19E08E"/>
          </a:solidFill>
          <a:ln w="12700">
            <a:solidFill>
              <a:srgbClr val="19E08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73405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91056" y="2679192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ON-PAGE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858768" y="2706624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Titles, structure, project narratives, internal links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7552" y="3355848"/>
            <a:ext cx="978408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02152"/>
            <a:ext cx="164592" cy="713232"/>
          </a:xfrm>
          <a:prstGeom prst="rect">
            <a:avLst/>
          </a:prstGeom>
          <a:solidFill>
            <a:srgbClr val="FFDA29"/>
          </a:solidFill>
          <a:ln w="12700">
            <a:solidFill>
              <a:srgbClr val="FFDA29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" y="35935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91056" y="3538728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3858768" y="3566160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Maps, business data, service areas, reviews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7552" y="4215384"/>
            <a:ext cx="978408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4361688"/>
            <a:ext cx="164592" cy="71323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4531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591056" y="439826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OFF-PAGE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858768" y="4425696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Publications, awards, collaborators, credible mentions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87552" y="5074920"/>
            <a:ext cx="978408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5221224"/>
            <a:ext cx="164592" cy="713232"/>
          </a:xfrm>
          <a:prstGeom prst="rect">
            <a:avLst/>
          </a:prstGeom>
          <a:solidFill>
            <a:srgbClr val="19E08E"/>
          </a:solidFill>
          <a:ln w="12700">
            <a:solidFill>
              <a:srgbClr val="19E08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" y="531266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591056" y="5257800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3858768" y="5285232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growing body of useful first-hand evidence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87552" y="5934456"/>
            <a:ext cx="978408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59952" y="5833872"/>
            <a:ext cx="1993392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15400" y="5934456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CONNECTED SYSTEM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CONTENT ENGINE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approved project becomes a connected month of communication.</a:t>
            </a:r>
            <a:endParaRPr lang="en-US" sz="3700" dirty="0"/>
          </a:p>
        </p:txBody>
      </p:sp>
      <p:pic>
        <p:nvPicPr>
          <p:cNvPr id="4" name="Image 0" descr="C:\Users\User\Desktop\CLEINTS PITCH\tmp\amsa_meeting_pack\converted\AMSA_commercial_0001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59352" y="1828800"/>
            <a:ext cx="4251960" cy="36393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59352" y="4828032"/>
            <a:ext cx="4251960" cy="640080"/>
          </a:xfrm>
          <a:prstGeom prst="rect">
            <a:avLst/>
          </a:prstGeom>
          <a:solidFill>
            <a:srgbClr val="000000">
              <a:alpha val="9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206240" y="501091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OF RECORD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650992" y="4965192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story on amsa.com.cy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0116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1975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 carousel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225296" y="2606040"/>
            <a:ext cx="2212848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0449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300837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Facebook update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1225296" y="3639312"/>
            <a:ext cx="2212848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4078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404164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Pinterest pins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1225296" y="4672584"/>
            <a:ext cx="2212848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41664" y="20116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1975104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LinkedIn narrative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9235440" y="2606040"/>
            <a:ext cx="2240280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41664" y="30449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235440" y="300837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profile update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9235440" y="3639312"/>
            <a:ext cx="2240280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41664" y="4078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0" y="404164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Editorial fact sheet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9235440" y="4672584"/>
            <a:ext cx="2240280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874520" y="5760720"/>
            <a:ext cx="8430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AMSA supplies approved facts and images once. 404200 researches, writes, adapts, schedules and records the output.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ONLINE PRESENCE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Twenty useful destinations — prioritised, owned and kept consistent.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21792" y="1828800"/>
            <a:ext cx="2331720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2128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+ VERIFY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76148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Google Business Profile</a:t>
            </a:r>
            <a:endParaRPr lang="en-US" sz="1620" dirty="0"/>
          </a:p>
        </p:txBody>
      </p:sp>
      <p:sp>
        <p:nvSpPr>
          <p:cNvPr id="7" name="Shape 5"/>
          <p:cNvSpPr/>
          <p:nvPr/>
        </p:nvSpPr>
        <p:spPr>
          <a:xfrm>
            <a:off x="621792" y="328269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40156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Bing Places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621792" y="392277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404164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Apple Business</a:t>
            </a:r>
            <a:endParaRPr lang="en-US" sz="1620" dirty="0"/>
          </a:p>
        </p:txBody>
      </p:sp>
      <p:sp>
        <p:nvSpPr>
          <p:cNvPr id="11" name="Shape 9"/>
          <p:cNvSpPr/>
          <p:nvPr/>
        </p:nvSpPr>
        <p:spPr>
          <a:xfrm>
            <a:off x="621792" y="456285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468172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ETEK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621792" y="520293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32180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 World-Architects</a:t>
            </a:r>
            <a:endParaRPr lang="en-US" sz="1620" dirty="0"/>
          </a:p>
        </p:txBody>
      </p:sp>
      <p:sp>
        <p:nvSpPr>
          <p:cNvPr id="15" name="Shape 13"/>
          <p:cNvSpPr/>
          <p:nvPr/>
        </p:nvSpPr>
        <p:spPr>
          <a:xfrm>
            <a:off x="621792" y="584301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02152" y="1828800"/>
            <a:ext cx="2331720" cy="164592"/>
          </a:xfrm>
          <a:prstGeom prst="rect">
            <a:avLst/>
          </a:prstGeom>
          <a:solidFill>
            <a:srgbClr val="19E08E"/>
          </a:solidFill>
          <a:ln w="12700">
            <a:solidFill>
              <a:srgbClr val="19E08E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02152" y="22128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SOCIAL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02152" y="276148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 LinkedIn</a:t>
            </a:r>
            <a:endParaRPr lang="en-US" sz="1620" dirty="0"/>
          </a:p>
        </p:txBody>
      </p:sp>
      <p:sp>
        <p:nvSpPr>
          <p:cNvPr id="19" name="Shape 17"/>
          <p:cNvSpPr/>
          <p:nvPr/>
        </p:nvSpPr>
        <p:spPr>
          <a:xfrm>
            <a:off x="3502152" y="328269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02152" y="340156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 Instagram</a:t>
            </a:r>
            <a:endParaRPr lang="en-US" sz="1620" dirty="0"/>
          </a:p>
        </p:txBody>
      </p:sp>
      <p:sp>
        <p:nvSpPr>
          <p:cNvPr id="21" name="Shape 19"/>
          <p:cNvSpPr/>
          <p:nvPr/>
        </p:nvSpPr>
        <p:spPr>
          <a:xfrm>
            <a:off x="3502152" y="392277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02152" y="404164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 Facebook</a:t>
            </a:r>
            <a:endParaRPr lang="en-US" sz="1620" dirty="0"/>
          </a:p>
        </p:txBody>
      </p:sp>
      <p:sp>
        <p:nvSpPr>
          <p:cNvPr id="23" name="Shape 21"/>
          <p:cNvSpPr/>
          <p:nvPr/>
        </p:nvSpPr>
        <p:spPr>
          <a:xfrm>
            <a:off x="3502152" y="456285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02152" y="468172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 Pinterest Business</a:t>
            </a:r>
            <a:endParaRPr lang="en-US" sz="1620" dirty="0"/>
          </a:p>
        </p:txBody>
      </p:sp>
      <p:sp>
        <p:nvSpPr>
          <p:cNvPr id="25" name="Shape 23"/>
          <p:cNvSpPr/>
          <p:nvPr/>
        </p:nvSpPr>
        <p:spPr>
          <a:xfrm>
            <a:off x="3502152" y="520293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02152" y="532180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 YouTube</a:t>
            </a:r>
            <a:endParaRPr lang="en-US" sz="1620" dirty="0"/>
          </a:p>
        </p:txBody>
      </p:sp>
      <p:sp>
        <p:nvSpPr>
          <p:cNvPr id="27" name="Shape 25"/>
          <p:cNvSpPr/>
          <p:nvPr/>
        </p:nvSpPr>
        <p:spPr>
          <a:xfrm>
            <a:off x="3502152" y="584301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82512" y="1828800"/>
            <a:ext cx="2331720" cy="164592"/>
          </a:xfrm>
          <a:prstGeom prst="rect">
            <a:avLst/>
          </a:prstGeom>
          <a:solidFill>
            <a:srgbClr val="FFDA29"/>
          </a:solidFill>
          <a:ln w="12700">
            <a:solidFill>
              <a:srgbClr val="FFDA2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82512" y="22128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82512" y="276148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 Vimeo</a:t>
            </a:r>
            <a:endParaRPr lang="en-US" sz="1620" dirty="0"/>
          </a:p>
        </p:txBody>
      </p:sp>
      <p:sp>
        <p:nvSpPr>
          <p:cNvPr id="31" name="Shape 29"/>
          <p:cNvSpPr/>
          <p:nvPr/>
        </p:nvSpPr>
        <p:spPr>
          <a:xfrm>
            <a:off x="6382512" y="328269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82512" y="340156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 Houzz Pro</a:t>
            </a:r>
            <a:endParaRPr lang="en-US" sz="1620" dirty="0"/>
          </a:p>
        </p:txBody>
      </p:sp>
      <p:sp>
        <p:nvSpPr>
          <p:cNvPr id="33" name="Shape 31"/>
          <p:cNvSpPr/>
          <p:nvPr/>
        </p:nvSpPr>
        <p:spPr>
          <a:xfrm>
            <a:off x="6382512" y="392277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82512" y="404164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 Architizer</a:t>
            </a:r>
            <a:endParaRPr lang="en-US" sz="1620" dirty="0"/>
          </a:p>
        </p:txBody>
      </p:sp>
      <p:sp>
        <p:nvSpPr>
          <p:cNvPr id="35" name="Shape 33"/>
          <p:cNvSpPr/>
          <p:nvPr/>
        </p:nvSpPr>
        <p:spPr>
          <a:xfrm>
            <a:off x="6382512" y="456285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82512" y="468172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 Archello</a:t>
            </a:r>
            <a:endParaRPr lang="en-US" sz="1620" dirty="0"/>
          </a:p>
        </p:txBody>
      </p:sp>
      <p:sp>
        <p:nvSpPr>
          <p:cNvPr id="37" name="Shape 35"/>
          <p:cNvSpPr/>
          <p:nvPr/>
        </p:nvSpPr>
        <p:spPr>
          <a:xfrm>
            <a:off x="6382512" y="520293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82512" y="532180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 Behance</a:t>
            </a:r>
            <a:endParaRPr lang="en-US" sz="1620" dirty="0"/>
          </a:p>
        </p:txBody>
      </p:sp>
      <p:sp>
        <p:nvSpPr>
          <p:cNvPr id="39" name="Shape 37"/>
          <p:cNvSpPr/>
          <p:nvPr/>
        </p:nvSpPr>
        <p:spPr>
          <a:xfrm>
            <a:off x="6382512" y="584301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62872" y="1828800"/>
            <a:ext cx="2331720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62872" y="22128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262872" y="276148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 ArchDaily</a:t>
            </a:r>
            <a:endParaRPr lang="en-US" sz="1620" dirty="0"/>
          </a:p>
        </p:txBody>
      </p:sp>
      <p:sp>
        <p:nvSpPr>
          <p:cNvPr id="43" name="Shape 41"/>
          <p:cNvSpPr/>
          <p:nvPr/>
        </p:nvSpPr>
        <p:spPr>
          <a:xfrm>
            <a:off x="9262872" y="328269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62872" y="340156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 Dezeen</a:t>
            </a:r>
            <a:endParaRPr lang="en-US" sz="1620" dirty="0"/>
          </a:p>
        </p:txBody>
      </p:sp>
      <p:sp>
        <p:nvSpPr>
          <p:cNvPr id="45" name="Shape 43"/>
          <p:cNvSpPr/>
          <p:nvPr/>
        </p:nvSpPr>
        <p:spPr>
          <a:xfrm>
            <a:off x="9262872" y="392277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62872" y="404164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 designboom</a:t>
            </a:r>
            <a:endParaRPr lang="en-US" sz="1620" dirty="0"/>
          </a:p>
        </p:txBody>
      </p:sp>
      <p:sp>
        <p:nvSpPr>
          <p:cNvPr id="47" name="Shape 45"/>
          <p:cNvSpPr/>
          <p:nvPr/>
        </p:nvSpPr>
        <p:spPr>
          <a:xfrm>
            <a:off x="9262872" y="456285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262872" y="468172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 Issuu</a:t>
            </a:r>
            <a:endParaRPr lang="en-US" sz="1620" dirty="0"/>
          </a:p>
        </p:txBody>
      </p:sp>
      <p:sp>
        <p:nvSpPr>
          <p:cNvPr id="49" name="Shape 47"/>
          <p:cNvSpPr/>
          <p:nvPr/>
        </p:nvSpPr>
        <p:spPr>
          <a:xfrm>
            <a:off x="9262872" y="520293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262872" y="532180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 GitHub</a:t>
            </a:r>
            <a:endParaRPr lang="en-US" sz="1620" dirty="0"/>
          </a:p>
        </p:txBody>
      </p:sp>
      <p:sp>
        <p:nvSpPr>
          <p:cNvPr id="51" name="Shape 49"/>
          <p:cNvSpPr/>
          <p:nvPr/>
        </p:nvSpPr>
        <p:spPr>
          <a:xfrm>
            <a:off x="9262872" y="5843016"/>
            <a:ext cx="2331720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1792" y="5870448"/>
            <a:ext cx="10972800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2104" y="5971032"/>
            <a:ext cx="10561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TO FOUR PROFILES CREATED, CLAIMED OR COMPLETED EACH MONTH  /  EDITORIAL ACCEPTANCE REMAINS WITH THE PUBLISHER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ACCOUNT OPENING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AMSA owns the accounts. 404200 operates them with controlled access.</a:t>
            </a:r>
            <a:endParaRPr lang="en-US" sz="3700" dirty="0"/>
          </a:p>
        </p:txBody>
      </p:sp>
      <p:pic>
        <p:nvPicPr>
          <p:cNvPr id="4" name="Image 0" descr="C:\Users\User\Desktop\CLEINTS PITCH\tmp\amsa_meeting_pack\converted\404200_hero_fig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14032" y="1572768"/>
            <a:ext cx="4389120" cy="4800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810512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307592" y="1783080"/>
            <a:ext cx="1938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CLAIM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255264" y="1764792"/>
            <a:ext cx="34015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AMSA-owned email address where the platform permits.</a:t>
            </a:r>
            <a:endParaRPr lang="en-US" sz="1720" dirty="0"/>
          </a:p>
        </p:txBody>
      </p:sp>
      <p:sp>
        <p:nvSpPr>
          <p:cNvPr id="8" name="Shape 5"/>
          <p:cNvSpPr/>
          <p:nvPr/>
        </p:nvSpPr>
        <p:spPr>
          <a:xfrm>
            <a:off x="1307592" y="2441448"/>
            <a:ext cx="5340096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65176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2624328"/>
            <a:ext cx="1938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255264" y="2606040"/>
            <a:ext cx="34015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Logo, biography, contact details, website, services and categories.</a:t>
            </a:r>
            <a:endParaRPr lang="en-US" sz="1720" dirty="0"/>
          </a:p>
        </p:txBody>
      </p:sp>
      <p:sp>
        <p:nvSpPr>
          <p:cNvPr id="12" name="Shape 9"/>
          <p:cNvSpPr/>
          <p:nvPr/>
        </p:nvSpPr>
        <p:spPr>
          <a:xfrm>
            <a:off x="1307592" y="3282696"/>
            <a:ext cx="5340096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9300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307592" y="3465576"/>
            <a:ext cx="1938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255264" y="3447288"/>
            <a:ext cx="34015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Two-factor authentication, recovery ownership and named administrators.</a:t>
            </a:r>
            <a:endParaRPr lang="en-US" sz="1720" dirty="0"/>
          </a:p>
        </p:txBody>
      </p:sp>
      <p:sp>
        <p:nvSpPr>
          <p:cNvPr id="16" name="Shape 13"/>
          <p:cNvSpPr/>
          <p:nvPr/>
        </p:nvSpPr>
        <p:spPr>
          <a:xfrm>
            <a:off x="1307592" y="4123944"/>
            <a:ext cx="5340096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33425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07592" y="4306824"/>
            <a:ext cx="1938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255264" y="4288536"/>
            <a:ext cx="34015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an initial content set so the profile opens with context.</a:t>
            </a:r>
            <a:endParaRPr lang="en-US" sz="1720" dirty="0"/>
          </a:p>
        </p:txBody>
      </p:sp>
      <p:sp>
        <p:nvSpPr>
          <p:cNvPr id="20" name="Shape 17"/>
          <p:cNvSpPr/>
          <p:nvPr/>
        </p:nvSpPr>
        <p:spPr>
          <a:xfrm>
            <a:off x="1307592" y="4965192"/>
            <a:ext cx="5340096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175504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07592" y="5148072"/>
            <a:ext cx="1938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255264" y="5129784"/>
            <a:ext cx="34015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channels that show relevance, referrals or editorial value.</a:t>
            </a:r>
            <a:endParaRPr lang="en-US" sz="1720" dirty="0"/>
          </a:p>
        </p:txBody>
      </p:sp>
      <p:sp>
        <p:nvSpPr>
          <p:cNvPr id="24" name="Shape 21"/>
          <p:cNvSpPr/>
          <p:nvPr/>
        </p:nvSpPr>
        <p:spPr>
          <a:xfrm>
            <a:off x="1307592" y="5806440"/>
            <a:ext cx="5340096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40880" y="5742432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 is a design decision: the permanent keys stay with AMSA.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WEBSITE REBUILD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WordPress remains the structure. Elementor becomes the reusable design system.</a:t>
            </a:r>
            <a:endParaRPr lang="en-US" sz="3600" dirty="0"/>
          </a:p>
        </p:txBody>
      </p:sp>
      <p:pic>
        <p:nvPicPr>
          <p:cNvPr id="4" name="Image 0" descr="C:\Users\User\Desktop\CLEINTS PITCH\tmp\amsa_meeting_pack\converted\AMSA_commercial_1007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847088"/>
            <a:ext cx="6446520" cy="43159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5266944"/>
            <a:ext cx="6446520" cy="896112"/>
          </a:xfrm>
          <a:prstGeom prst="rect">
            <a:avLst/>
          </a:prstGeom>
          <a:solidFill>
            <a:srgbClr val="000000">
              <a:alpha val="97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5468112"/>
            <a:ext cx="3017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Elementor runs inside WordPress.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703320" y="5495544"/>
            <a:ext cx="2944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HTML/CSS completes the precise details.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516368" y="1892808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87452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TEMPLATES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083296" y="216712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header, footer, project pages and consistent design tokens.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083296" y="2807208"/>
            <a:ext cx="3319272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16368" y="3145536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83296" y="3127248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EASIER UPDATES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083296" y="3419856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project pages start from an approved structure.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83296" y="4059936"/>
            <a:ext cx="3319272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4398264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83296" y="4379976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FOUNDATIONS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083296" y="4672584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URLs, metadata, image handling, internal links and sitemaps are protected during the build.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8083296" y="5312664"/>
            <a:ext cx="3319272" cy="0"/>
          </a:xfrm>
          <a:prstGeom prst="line">
            <a:avLst/>
          </a:prstGeom>
          <a:noFill/>
          <a:ln w="8890">
            <a:solidFill>
              <a:srgbClr val="D8D1C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8–12 WEEK IMPLEMENTATION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972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time is in the inventory, templates, migration and testing — not the drag-and-drop.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21792" y="1920240"/>
            <a:ext cx="2551176" cy="155448"/>
          </a:xfrm>
          <a:prstGeom prst="rect">
            <a:avLst/>
          </a:prstGeom>
          <a:solidFill>
            <a:srgbClr val="FF4138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304288"/>
            <a:ext cx="2551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6974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364992"/>
            <a:ext cx="2551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Pages, URLs, images, forms, analytics, plugins, backups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5285232"/>
            <a:ext cx="25511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D8D1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438144" y="1920240"/>
            <a:ext cx="2551176" cy="155448"/>
          </a:xfrm>
          <a:prstGeom prst="rect">
            <a:avLst/>
          </a:prstGeom>
          <a:solidFill>
            <a:srgbClr val="19E08E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38144" y="2304288"/>
            <a:ext cx="2551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3–6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438144" y="26974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3438144" y="3364992"/>
            <a:ext cx="2551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parts, project templates, approved content and responsive layouts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38144" y="5285232"/>
            <a:ext cx="25511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D8D1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254496" y="1920240"/>
            <a:ext cx="2551176" cy="155448"/>
          </a:xfrm>
          <a:prstGeom prst="rect">
            <a:avLst/>
          </a:prstGeom>
          <a:solidFill>
            <a:srgbClr val="FFDA29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2304288"/>
            <a:ext cx="2551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7–9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254496" y="26974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3364992"/>
            <a:ext cx="2551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Mobile, browsers, galleries, forms, links, accessibility and performance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5285232"/>
            <a:ext cx="25511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D8D1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070848" y="1920240"/>
            <a:ext cx="2551176" cy="155448"/>
          </a:xfrm>
          <a:prstGeom prst="rect">
            <a:avLst/>
          </a:prstGeom>
          <a:solidFill>
            <a:srgbClr val="FF4138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0848" y="2304288"/>
            <a:ext cx="2551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10–12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070848" y="26974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070848" y="3364992"/>
            <a:ext cx="2551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Review, corrections, redirects, sitemap, analytics, launch and monitoring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70848" y="5285232"/>
            <a:ext cx="25511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D8D1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621792" y="5852160"/>
            <a:ext cx="10972800" cy="38404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961888"/>
            <a:ext cx="10479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30" b="1" spc="8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CURRENT WEBSITE STAYS LIVE UNTIL AMSA APPROVES THE REPLACEMENT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WHY SEO TAKES SIX TO TWELVE MONTHS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 ships quickly. Search engines and market response move on their own clock.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60120" y="2926080"/>
            <a:ext cx="10058400" cy="0"/>
          </a:xfrm>
          <a:prstGeom prst="line">
            <a:avLst/>
          </a:prstGeom>
          <a:noFill/>
          <a:ln w="2794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743200"/>
            <a:ext cx="384048" cy="384048"/>
          </a:xfrm>
          <a:prstGeom prst="ellipse">
            <a:avLst/>
          </a:prstGeom>
          <a:solidFill>
            <a:srgbClr val="FF4138"/>
          </a:solidFill>
          <a:ln w="1016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1762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1–2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4198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877056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Baseline, access, fixes, profiles, first pages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3703320" y="2743200"/>
            <a:ext cx="384048" cy="384048"/>
          </a:xfrm>
          <a:prstGeom prst="ellipse">
            <a:avLst/>
          </a:prstGeom>
          <a:solidFill>
            <a:srgbClr val="19E08E"/>
          </a:solidFill>
          <a:ln w="1016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21762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3–4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538728" y="34198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EVIDENCE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3877056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Indexing, query visibility, first referral patterns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384048" cy="384048"/>
          </a:xfrm>
          <a:prstGeom prst="ellipse">
            <a:avLst/>
          </a:prstGeom>
          <a:solidFill>
            <a:srgbClr val="FFDA29"/>
          </a:solidFill>
          <a:ln w="1016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21762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5–6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4198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COMPARISON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3877056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Enough work and data to compare themes and pages</a:t>
            </a:r>
            <a:endParaRPr lang="en-US" sz="1620" dirty="0"/>
          </a:p>
        </p:txBody>
      </p:sp>
      <p:sp>
        <p:nvSpPr>
          <p:cNvPr id="17" name="Shape 15"/>
          <p:cNvSpPr/>
          <p:nvPr/>
        </p:nvSpPr>
        <p:spPr>
          <a:xfrm>
            <a:off x="9098280" y="2743200"/>
            <a:ext cx="384048" cy="384048"/>
          </a:xfrm>
          <a:prstGeom prst="ellipse">
            <a:avLst/>
          </a:prstGeom>
          <a:solidFill>
            <a:srgbClr val="FF4138"/>
          </a:solidFill>
          <a:ln w="1016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33688" y="21762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7–12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34198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933688" y="3877056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Deeper content, links, mentions and repeated refinement</a:t>
            </a:r>
            <a:endParaRPr lang="en-US" sz="1620" dirty="0"/>
          </a:p>
        </p:txBody>
      </p:sp>
      <p:sp>
        <p:nvSpPr>
          <p:cNvPr id="21" name="Shape 19"/>
          <p:cNvSpPr/>
          <p:nvPr/>
        </p:nvSpPr>
        <p:spPr>
          <a:xfrm>
            <a:off x="621792" y="5449824"/>
            <a:ext cx="10972800" cy="713232"/>
          </a:xfrm>
          <a:prstGeom prst="rect">
            <a:avLst/>
          </a:prstGeom>
          <a:solidFill>
            <a:srgbClr val="FFFA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96112" y="5641848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 THE PACE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788920" y="5614416"/>
            <a:ext cx="827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  ·  website history  ·  publishing pace  ·  approvals  ·  target difficulty  ·  recrawling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SIX-MONTH OPERATING PLAN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744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focused sequence — with evidence every month.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21792" y="1847088"/>
            <a:ext cx="128016" cy="1417320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87452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17904" y="184708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414016"/>
            <a:ext cx="3054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Access, measurement, crawl, first correction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325112" y="1847088"/>
            <a:ext cx="128016" cy="1417320"/>
          </a:xfrm>
          <a:prstGeom prst="rect">
            <a:avLst/>
          </a:prstGeom>
          <a:solidFill>
            <a:srgbClr val="19E08E"/>
          </a:solidFill>
          <a:ln w="12700">
            <a:solidFill>
              <a:srgbClr val="19E08E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4296" y="187452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21224" y="184708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414016"/>
            <a:ext cx="3054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project story, social cycle, templates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028432" y="1847088"/>
            <a:ext cx="128016" cy="1417320"/>
          </a:xfrm>
          <a:prstGeom prst="rect">
            <a:avLst/>
          </a:prstGeom>
          <a:solidFill>
            <a:srgbClr val="FFDA29"/>
          </a:solidFill>
          <a:ln w="12700">
            <a:solidFill>
              <a:srgbClr val="FFDA29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57616" y="187452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24544" y="184708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414016"/>
            <a:ext cx="3054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 cycle, site QA, approved launch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21792" y="3785616"/>
            <a:ext cx="128016" cy="1417320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" y="381304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517904" y="3785616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52544"/>
            <a:ext cx="3054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gaining pages; complete priority profiles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4325112" y="3785616"/>
            <a:ext cx="128016" cy="1417320"/>
          </a:xfrm>
          <a:prstGeom prst="rect">
            <a:avLst/>
          </a:prstGeom>
          <a:solidFill>
            <a:srgbClr val="19E08E"/>
          </a:solidFill>
          <a:ln w="12700">
            <a:solidFill>
              <a:srgbClr val="19E08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4296" y="381304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221224" y="3785616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654296" y="4352544"/>
            <a:ext cx="3054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Awards, collaborators and editorial submissions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8028432" y="3785616"/>
            <a:ext cx="128016" cy="1417320"/>
          </a:xfrm>
          <a:prstGeom prst="rect">
            <a:avLst/>
          </a:prstGeom>
          <a:solidFill>
            <a:srgbClr val="FFDA29"/>
          </a:solidFill>
          <a:ln w="12700">
            <a:solidFill>
              <a:srgbClr val="FFDA29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57616" y="381304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24544" y="3785616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57616" y="4352544"/>
            <a:ext cx="3054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Six-month evidence review and next recommendation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594360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months is the first meaningful evaluation point — AMSA keeps the right to end at any time.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MEASUREMENT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Success is qualified visibility — then qualified action.</a:t>
            </a:r>
            <a:endParaRPr lang="en-US" sz="4000" dirty="0"/>
          </a:p>
        </p:txBody>
      </p:sp>
      <p:pic>
        <p:nvPicPr>
          <p:cNvPr id="4" name="Image 0" descr="C:\Users\User\Desktop\CLEINTS PITCH\tmp\amsa_meeting_pack\converted\404200_amsa_vill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847088"/>
            <a:ext cx="5532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5138928"/>
            <a:ext cx="5532120" cy="1005840"/>
          </a:xfrm>
          <a:prstGeom prst="rect">
            <a:avLst/>
          </a:prstGeom>
          <a:solidFill>
            <a:srgbClr val="000000">
              <a:alpha val="9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5404104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the path from discovery to enquiry.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186537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68896" y="184708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VISIBILITY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741664" y="182880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impressions and query coverage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168896" y="2441448"/>
            <a:ext cx="4087368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268833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68896" y="267004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INTEREST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741664" y="265176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Clicks, priority-page visits and project depth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7168896" y="3264408"/>
            <a:ext cx="4087368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351129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D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168896" y="349300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741664" y="347472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 referrals, saves, shares and publication links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7168896" y="4087368"/>
            <a:ext cx="4087368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29400" y="433425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168896" y="431596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741664" y="42976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 clicks, forms and qualified enquiries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7168896" y="4910328"/>
            <a:ext cx="4087368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515721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168896" y="513892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741664" y="512064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 work, live URLs, risks and next priority</a:t>
            </a:r>
            <a:endParaRPr lang="en-US" sz="1650" dirty="0"/>
          </a:p>
        </p:txBody>
      </p:sp>
      <p:sp>
        <p:nvSpPr>
          <p:cNvPr id="26" name="Shape 23"/>
          <p:cNvSpPr/>
          <p:nvPr/>
        </p:nvSpPr>
        <p:spPr>
          <a:xfrm>
            <a:off x="7168896" y="5733288"/>
            <a:ext cx="4087368" cy="0"/>
          </a:xfrm>
          <a:prstGeom prst="line">
            <a:avLst/>
          </a:prstGeom>
          <a:noFill/>
          <a:ln w="7620">
            <a:solidFill>
              <a:srgbClr val="D8D1C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5029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COMMERCIAL TERMS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41248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monthly rate. Two payment choices. A clear exit right.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621792" y="1828800"/>
            <a:ext cx="2971800" cy="42245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304288"/>
            <a:ext cx="2267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€350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1272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794760"/>
            <a:ext cx="230428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reserved capacity across search, content, social, local visibility and website implementation.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977640" y="1828800"/>
            <a:ext cx="3429000" cy="1874520"/>
          </a:xfrm>
          <a:prstGeom prst="rect">
            <a:avLst/>
          </a:prstGeom>
          <a:solidFill>
            <a:srgbClr val="FFFAF0"/>
          </a:solidFill>
          <a:ln w="1524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15968" y="224028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□  QUARTERLY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315968" y="2788920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€1,050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4315968" y="327355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Paid every three months in advance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3977640" y="4160520"/>
            <a:ext cx="3429000" cy="1892808"/>
          </a:xfrm>
          <a:prstGeom prst="rect">
            <a:avLst/>
          </a:prstGeom>
          <a:solidFill>
            <a:srgbClr val="FFFAF0"/>
          </a:solidFill>
          <a:ln w="1524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15968" y="457200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□  SEMI-ANNUAL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15968" y="5120640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€2,100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4315968" y="5596128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Paid every six months in advance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2057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RIGHT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6060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 the agreement at any time by written notice.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7955280" y="3703320"/>
            <a:ext cx="3182112" cy="0"/>
          </a:xfrm>
          <a:prstGeom prst="line">
            <a:avLst/>
          </a:prstGeom>
          <a:noFill/>
          <a:ln w="1778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4023360"/>
            <a:ext cx="31821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F5A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Unused complete prepaid months are refunded after completed work and approved external costs are reconciled.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5285232"/>
            <a:ext cx="31821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SEO is designed for at least six months of consistent work — this is a performance runway, not a lock-in.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41148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Desktop\CLEINTS PITCH\tmp\amsa_meeting_pack\converted\AMSA_home_0004-12.png">    </p:cNvPr>
          <p:cNvPicPr>
            <a:picLocks noChangeAspect="1"/>
          </p:cNvPicPr>
          <p:nvPr/>
        </p:nvPicPr>
        <p:blipFill>
          <a:blip r:embed="rId1">
            <a:alphaModFix amt="96000"/>
          </a:blip>
          <a:srcRect l="0" r="0" t="0" b="0"/>
          <a:stretch/>
        </p:blipFill>
        <p:spPr>
          <a:xfrm>
            <a:off x="0" y="0"/>
            <a:ext cx="12191695" cy="2788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40280"/>
            <a:ext cx="12191695" cy="548640"/>
          </a:xfrm>
          <a:prstGeom prst="rect">
            <a:avLst/>
          </a:prstGeom>
          <a:solidFill>
            <a:srgbClr val="000000">
              <a:alpha val="8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C:\Users\User\Desktop\CLEINTS PITCH\tmp\amsa_meeting_pack\converted\404200_header_log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3172968"/>
            <a:ext cx="2084832" cy="7498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21792" y="397764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Approve the first six-month programme.</a:t>
            </a:r>
            <a:endParaRPr lang="en-US" sz="4100" dirty="0"/>
          </a:p>
        </p:txBody>
      </p:sp>
      <p:sp>
        <p:nvSpPr>
          <p:cNvPr id="6" name="Text 2"/>
          <p:cNvSpPr txBox="1"/>
          <p:nvPr/>
        </p:nvSpPr>
        <p:spPr>
          <a:xfrm>
            <a:off x="713232" y="501091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234440" y="499262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project + audience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6245352" y="501091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766560" y="499262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three publishable projects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13232" y="560527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558698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approver + access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245352" y="560527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9E0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766560" y="558698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or semi-annual payment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668512" y="3310128"/>
            <a:ext cx="2926080" cy="1572768"/>
          </a:xfrm>
          <a:prstGeom prst="rect">
            <a:avLst/>
          </a:prstGeom>
          <a:solidFill>
            <a:srgbClr val="FFFAF0"/>
          </a:solidFill>
          <a:ln w="12700">
            <a:solidFill>
              <a:srgbClr val="FFFAF0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979408" y="36118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4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979408" y="4041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 + schedule the access session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AF0"/>
          </a:solidFill>
          <a:ln w="12700">
            <a:solidFill>
              <a:srgbClr val="FFFAF0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92608" y="6611112"/>
            <a:ext cx="246888" cy="164592"/>
          </a:xfrm>
          <a:prstGeom prst="rect">
            <a:avLst/>
          </a:prstGeom>
          <a:solidFill>
            <a:srgbClr val="FF4138"/>
          </a:solidFill>
          <a:ln w="12700">
            <a:solidFill>
              <a:srgbClr val="FF4138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8368" y="6615684"/>
            <a:ext cx="3108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404200  /  AMSA ARCHITECTS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11201400" y="661111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404200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AMSA Digital Visibility System</dc:title>
  <dc:subject>AMSA Architects digital growth proposal</dc:subject>
  <dc:creator>404200</dc:creator>
  <cp:lastModifiedBy>404200</cp:lastModifiedBy>
  <cp:revision>1</cp:revision>
  <dcterms:created xsi:type="dcterms:W3CDTF">2026-10-20T10:30:16Z</dcterms:created>
  <dcterms:modified xsi:type="dcterms:W3CDTF">2026-10-20T10:30:16Z</dcterms:modified>
</cp:coreProperties>
</file>