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https://amsa.com.cy/ — AMSA project image and public practice positioning
- https://www.404200.ai/ — 404200 visual identity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https://amsa.com.cy/competitions-awards/ — awards page structure and AMSA-owned imagery
- https://amsa.com.cy/about-us/ — practice history and positioning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https://www.404200.ai/ — current 404200 Foundation plan and service model
- https://developers.google.com/search/docs/fundamentals/seo-starter-guide — common SEO work areas
Monthly quantities are proposal terms, not claims sourced from the cited pages.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https://developers.google.com/search/docs/fundamentals/seo-starter-guide — definition and core practices of SEO
- https://amsa.com.cy/wp-content/uploads/2023/10/0021-02-1024x451.jpg — AMSA project image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https://developers.google.com/search/docs/fundamentals/seo-starter-guide — technical, content, titles and links
- https://support.google.com/business/answer/7091 — local relevance, distance and prominence
- https://developers.google.com/search/docs/essentials/spam-policies — off-page/link-policy guardrails
- https://developers.google.com/search/docs/fundamentals/creating-helpful-content — people-first, first-hand content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https://developers.google.com/search/docs/fundamentals/creating-helpful-content — people-first and first-hand content principles
- https://amsa.com.cy/wp-content/uploads/2023/10/0001-01.jpg — AMSA project image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https://www.google.com/business/
- https://www.bingplaces.com/
- https://business.apple.com/
- https://www.linkedin.com/
- https://www.instagram.com/
- https://www.facebook.com/pages/create
- https://business.pinterest.com/
- https://www.youtube.com/
- https://vimeo.com/
- https://www.houzz.com/pro
- https://architizer.com/
- https://archello.com/
- https://www.archdaily.com/submit-a-project
- https://www.dezeen.com/submissions/
- https://www.designboom.com/submissions/
- https://world-architects.com/
- https://www.behance.net/
- https://issuu.com/
- https://github.com/
- https://www.etek.org.cy/
Availability, eligibility, fees and editorial acceptance must be confirmed before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https://www.404200.ai/ — 404200 brand illustration
- Account-ownership process is a proposed operating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https://elementor.com/help/wordpress-and-elementor-2/ — Elementor operates with WordPress
- https://elementor.com/help/the-elementor-theme-builder/ — reusable site-part templates
- https://developers.google.com/search/docs/crawling-indexing/site-move-with-url-changes — preserving URLs, redirects and monitoring during site changes
- https://amsa.com.cy/wp-content/uploads/2023/12/1007-02.jpg — AMSA project image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https://developers.google.com/search/docs/crawling-indexing/site-move-with-url-changes — inventory, URL mapping, redirects, testing and monitoring
- https://web.dev/articles/vitals — loading, interactivity and visual stability
The 8–12 week range is a scoped proposal estimate for the current public website, subject to access, approved material and hidden complexity.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https://developers.google.com/search/docs/appearance/core-updates — effects can take days to several months; no guarantee
- https://ahrefs.com/blog/how-long-does-seo-take/ — poll-based 3–6 month expectation
- https://www.semrush.com/blog/how-long-does-seo-take/ — 4–12 month industry planning range
- https://developers.google.com/search/docs/crawling-indexing/site-move-with-url-changes — recrawling and reindexing take time
The slide presents a planning model, not a guarantee of timing or outcome.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https://support.google.com/webmasters/answer/7576553 — search impressions, clicks, queries and pages
- https://developers.google.com/search/docs/appearance/core-updates — changes require time to be assessed by search systems
Roadmap and cancellation language are proposal terms.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https://support.google.com/webmasters/answer/7576553 — clicks, impressions, CTR, position, queries and pages
- https://support.google.com/analytics/answer/13965727 — key events for important website actions
- https://www.404200.ai/ — AMSA villa image reproduced on 404200 selected work with AMSA attribution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https://www.404200.ai/ — 404200 Foundation plan public monthly price
- Payment and termination terms are proposal terms and must be completed with legal entity details before signature.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https://amsa.com.cy/ — AMSA project image
- https://www.404200.ai/ — 404200 logo and visual identity
Decision steps are proposal terms.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3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esktop\CLEINTS PITCH\tmp\amsa_meeting_pack\converted\AMSA_residential_0066-0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83480" y="0"/>
            <a:ext cx="7208215" cy="656539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943600" cy="6565392"/>
          </a:xfrm>
          <a:prstGeom prst="rect">
            <a:avLst/>
          </a:prstGeom>
          <a:solidFill>
            <a:srgbClr val="FFFAF0"/>
          </a:solidFill>
          <a:ln w="12700">
            <a:solidFill>
              <a:srgbClr val="FFFAF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21792" y="621792"/>
            <a:ext cx="292608" cy="292608"/>
          </a:xfrm>
          <a:prstGeom prst="rect">
            <a:avLst/>
          </a:prstGeom>
          <a:solidFill>
            <a:srgbClr val="FF4138"/>
          </a:solidFill>
          <a:ln w="12700">
            <a:solidFill>
              <a:srgbClr val="FF4138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78992" y="61264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110" kern="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404200 × AMSA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21792" y="150876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AMSA,</a:t>
            </a:r>
            <a:endParaRPr lang="en-US" sz="5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easier to find.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3310128"/>
            <a:ext cx="3977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494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Search, content, social and a maintainable website — one connected operating system.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59070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115" kern="0" dirty="0">
                <a:solidFill>
                  <a:srgbClr val="FF4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PROPOSAL  /  20 OCTOBER 2026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92608" y="6611112"/>
            <a:ext cx="246888" cy="164592"/>
          </a:xfrm>
          <a:prstGeom prst="rect">
            <a:avLst/>
          </a:prstGeom>
          <a:solidFill>
            <a:srgbClr val="FF4138"/>
          </a:solidFill>
          <a:ln w="12700">
            <a:solidFill>
              <a:srgbClr val="FF4138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8368" y="6615684"/>
            <a:ext cx="3108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404200  /  AMSA ARCHITECTS</a:t>
            </a:r>
            <a:endParaRPr lang="en-US" sz="750" dirty="0"/>
          </a:p>
        </p:txBody>
      </p:sp>
      <p:sp>
        <p:nvSpPr>
          <p:cNvPr id="12" name="Text 9"/>
          <p:cNvSpPr txBox="1"/>
          <p:nvPr/>
        </p:nvSpPr>
        <p:spPr>
          <a:xfrm>
            <a:off x="11201400" y="6611112"/>
            <a:ext cx="411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502920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120" kern="0" dirty="0">
                <a:solidFill>
                  <a:srgbClr val="FF4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THE OPPORTUNITY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8412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AMSA’s thinking deserves visibility.</a:t>
            </a:r>
            <a:endParaRPr lang="en-US" sz="3800" dirty="0"/>
          </a:p>
        </p:txBody>
      </p:sp>
      <p:pic>
        <p:nvPicPr>
          <p:cNvPr id="4" name="Image 0" descr="C:\Users\User\Desktop\CLEINTS PITCH\tmp\amsa_meeting_pack\converted\AMSA_award_1006-0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1792" y="1572768"/>
            <a:ext cx="5074920" cy="455371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1792" y="5394960"/>
            <a:ext cx="5074920" cy="731520"/>
          </a:xfrm>
          <a:prstGeom prst="rect">
            <a:avLst/>
          </a:prstGeom>
          <a:solidFill>
            <a:srgbClr val="000000">
              <a:alpha val="96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" y="5559552"/>
            <a:ext cx="4553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archive → searchable project stories</a:t>
            </a:r>
            <a:endParaRPr lang="en-US" sz="1750" dirty="0"/>
          </a:p>
        </p:txBody>
      </p:sp>
      <p:sp>
        <p:nvSpPr>
          <p:cNvPr id="7" name="Text 4"/>
          <p:cNvSpPr txBox="1"/>
          <p:nvPr/>
        </p:nvSpPr>
        <p:spPr>
          <a:xfrm>
            <a:off x="6236208" y="1664208"/>
            <a:ext cx="4389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4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803136" y="1645920"/>
            <a:ext cx="4599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 the work</a:t>
            </a:r>
            <a:endParaRPr lang="en-US" sz="1850" dirty="0"/>
          </a:p>
        </p:txBody>
      </p:sp>
      <p:sp>
        <p:nvSpPr>
          <p:cNvPr id="9" name="Text 6"/>
          <p:cNvSpPr txBox="1"/>
          <p:nvPr/>
        </p:nvSpPr>
        <p:spPr>
          <a:xfrm>
            <a:off x="6803136" y="1956816"/>
            <a:ext cx="4599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494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project codes with descriptive titles where confidentiality permits.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803136" y="2542032"/>
            <a:ext cx="4599432" cy="0"/>
          </a:xfrm>
          <a:prstGeom prst="line">
            <a:avLst/>
          </a:prstGeom>
          <a:noFill/>
          <a:ln w="8890">
            <a:solidFill>
              <a:srgbClr val="D8D1C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236208" y="2779776"/>
            <a:ext cx="4389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8A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803136" y="2761488"/>
            <a:ext cx="4599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the response</a:t>
            </a:r>
            <a:endParaRPr lang="en-US" sz="1850" dirty="0"/>
          </a:p>
        </p:txBody>
      </p:sp>
      <p:sp>
        <p:nvSpPr>
          <p:cNvPr id="13" name="Text 10"/>
          <p:cNvSpPr txBox="1"/>
          <p:nvPr/>
        </p:nvSpPr>
        <p:spPr>
          <a:xfrm>
            <a:off x="6803136" y="3072384"/>
            <a:ext cx="4599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494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the brief, constraints, material choices, collaborators and outcome.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803136" y="3657600"/>
            <a:ext cx="4599432" cy="0"/>
          </a:xfrm>
          <a:prstGeom prst="line">
            <a:avLst/>
          </a:prstGeom>
          <a:noFill/>
          <a:ln w="8890">
            <a:solidFill>
              <a:srgbClr val="D8D1C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236208" y="3895344"/>
            <a:ext cx="4389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B18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803136" y="3877056"/>
            <a:ext cx="4599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the evidence</a:t>
            </a:r>
            <a:endParaRPr lang="en-US" sz="1850" dirty="0"/>
          </a:p>
        </p:txBody>
      </p:sp>
      <p:sp>
        <p:nvSpPr>
          <p:cNvPr id="17" name="Text 14"/>
          <p:cNvSpPr txBox="1"/>
          <p:nvPr/>
        </p:nvSpPr>
        <p:spPr>
          <a:xfrm>
            <a:off x="6803136" y="4187952"/>
            <a:ext cx="4599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494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Link each project to services, locations, related work and contact routes.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803136" y="4773168"/>
            <a:ext cx="4599432" cy="0"/>
          </a:xfrm>
          <a:prstGeom prst="line">
            <a:avLst/>
          </a:prstGeom>
          <a:noFill/>
          <a:ln w="8890">
            <a:solidFill>
              <a:srgbClr val="D8D1C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236208" y="5029200"/>
            <a:ext cx="5166360" cy="1097280"/>
          </a:xfrm>
          <a:prstGeom prst="rect">
            <a:avLst/>
          </a:prstGeom>
          <a:solidFill>
            <a:srgbClr val="FFFAF0"/>
          </a:solidFill>
          <a:ln w="10160">
            <a:solidFill>
              <a:srgbClr val="D8D1C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92240" y="5230368"/>
            <a:ext cx="4663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site already proves AMSA can design. Clear project stories explain why the practice fits a specific brief.</a:t>
            </a:r>
            <a:endParaRPr lang="en-US" sz="1650" dirty="0"/>
          </a:p>
        </p:txBody>
      </p:sp>
      <p:sp>
        <p:nvSpPr>
          <p:cNvPr id="21" name="Shape 1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92608" y="6611112"/>
            <a:ext cx="246888" cy="164592"/>
          </a:xfrm>
          <a:prstGeom prst="rect">
            <a:avLst/>
          </a:prstGeom>
          <a:solidFill>
            <a:srgbClr val="FF4138"/>
          </a:solidFill>
          <a:ln w="12700">
            <a:solidFill>
              <a:srgbClr val="FF4138">
                <a:alpha val="0"/>
              </a:srgbClr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58368" y="6615684"/>
            <a:ext cx="3108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404200  /  AMSA ARCHITECTS</a:t>
            </a:r>
            <a:endParaRPr lang="en-US" sz="750" dirty="0"/>
          </a:p>
        </p:txBody>
      </p:sp>
      <p:sp>
        <p:nvSpPr>
          <p:cNvPr id="24" name="Text 21"/>
          <p:cNvSpPr txBox="1"/>
          <p:nvPr/>
        </p:nvSpPr>
        <p:spPr>
          <a:xfrm>
            <a:off x="11201400" y="6611112"/>
            <a:ext cx="411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502920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120" kern="0" dirty="0">
                <a:solidFill>
                  <a:srgbClr val="FF4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MONTHLY SERVICE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841248"/>
            <a:ext cx="10835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Every month produces visible work.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621792" y="1874520"/>
            <a:ext cx="2971800" cy="146304"/>
          </a:xfrm>
          <a:prstGeom prst="rect">
            <a:avLst/>
          </a:prstGeom>
          <a:solidFill>
            <a:srgbClr val="FF4138"/>
          </a:solidFill>
          <a:ln w="12700">
            <a:solidFill>
              <a:srgbClr val="FF4138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2212848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4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216712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21792" y="3035808"/>
            <a:ext cx="274320" cy="0"/>
          </a:xfrm>
          <a:prstGeom prst="line">
            <a:avLst/>
          </a:prstGeom>
          <a:noFill/>
          <a:ln w="38100">
            <a:solidFill>
              <a:srgbClr val="FF413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78992" y="2880360"/>
            <a:ext cx="2395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Strategy + opportunity map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621792" y="3995928"/>
            <a:ext cx="274320" cy="0"/>
          </a:xfrm>
          <a:prstGeom prst="line">
            <a:avLst/>
          </a:prstGeom>
          <a:noFill/>
          <a:ln w="38100">
            <a:solidFill>
              <a:srgbClr val="FF413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78992" y="3840480"/>
            <a:ext cx="2395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crawl + index review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621792" y="4956048"/>
            <a:ext cx="274320" cy="0"/>
          </a:xfrm>
          <a:prstGeom prst="line">
            <a:avLst/>
          </a:prstGeom>
          <a:noFill/>
          <a:ln w="38100">
            <a:solidFill>
              <a:srgbClr val="FF413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78992" y="4800600"/>
            <a:ext cx="2395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priority page improvements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3977640" y="1874520"/>
            <a:ext cx="2971800" cy="146304"/>
          </a:xfrm>
          <a:prstGeom prst="rect">
            <a:avLst/>
          </a:prstGeom>
          <a:solidFill>
            <a:srgbClr val="008A5D"/>
          </a:solidFill>
          <a:ln w="12700">
            <a:solidFill>
              <a:srgbClr val="008A5D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977640" y="2212848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08A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44568" y="216712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3977640" y="3035808"/>
            <a:ext cx="274320" cy="0"/>
          </a:xfrm>
          <a:prstGeom prst="line">
            <a:avLst/>
          </a:prstGeom>
          <a:noFill/>
          <a:ln w="38100">
            <a:solidFill>
              <a:srgbClr val="008A5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434840" y="2880360"/>
            <a:ext cx="2395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project story or blog article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3977640" y="3995928"/>
            <a:ext cx="274320" cy="0"/>
          </a:xfrm>
          <a:prstGeom prst="line">
            <a:avLst/>
          </a:prstGeom>
          <a:noFill/>
          <a:ln w="38100">
            <a:solidFill>
              <a:srgbClr val="008A5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434840" y="3840480"/>
            <a:ext cx="2395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core social stories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3977640" y="4956048"/>
            <a:ext cx="274320" cy="0"/>
          </a:xfrm>
          <a:prstGeom prst="line">
            <a:avLst/>
          </a:prstGeom>
          <a:noFill/>
          <a:ln w="38100">
            <a:solidFill>
              <a:srgbClr val="008A5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434840" y="4800600"/>
            <a:ext cx="2395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 to eight channel publications</a:t>
            </a:r>
            <a:endParaRPr lang="en-US" sz="1750" dirty="0"/>
          </a:p>
        </p:txBody>
      </p:sp>
      <p:sp>
        <p:nvSpPr>
          <p:cNvPr id="22" name="Shape 20"/>
          <p:cNvSpPr/>
          <p:nvPr/>
        </p:nvSpPr>
        <p:spPr>
          <a:xfrm>
            <a:off x="7333488" y="1874520"/>
            <a:ext cx="2971800" cy="146304"/>
          </a:xfrm>
          <a:prstGeom prst="rect">
            <a:avLst/>
          </a:prstGeom>
          <a:solidFill>
            <a:srgbClr val="B18400"/>
          </a:solidFill>
          <a:ln w="12700">
            <a:solidFill>
              <a:srgbClr val="B18400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33488" y="2212848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B18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900416" y="216712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7333488" y="3035808"/>
            <a:ext cx="274320" cy="0"/>
          </a:xfrm>
          <a:prstGeom prst="line">
            <a:avLst/>
          </a:prstGeom>
          <a:noFill/>
          <a:ln w="38100">
            <a:solidFill>
              <a:srgbClr val="B1840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90688" y="2880360"/>
            <a:ext cx="2395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profile care</a:t>
            </a:r>
            <a:endParaRPr lang="en-US" sz="1750" dirty="0"/>
          </a:p>
        </p:txBody>
      </p:sp>
      <p:sp>
        <p:nvSpPr>
          <p:cNvPr id="27" name="Shape 25"/>
          <p:cNvSpPr/>
          <p:nvPr/>
        </p:nvSpPr>
        <p:spPr>
          <a:xfrm>
            <a:off x="7333488" y="3995928"/>
            <a:ext cx="274320" cy="0"/>
          </a:xfrm>
          <a:prstGeom prst="line">
            <a:avLst/>
          </a:prstGeom>
          <a:noFill/>
          <a:ln w="38100">
            <a:solidFill>
              <a:srgbClr val="B1840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790688" y="3840480"/>
            <a:ext cx="2395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Five authority opportunities</a:t>
            </a:r>
            <a:endParaRPr lang="en-US" sz="1750" dirty="0"/>
          </a:p>
        </p:txBody>
      </p:sp>
      <p:sp>
        <p:nvSpPr>
          <p:cNvPr id="29" name="Shape 27"/>
          <p:cNvSpPr/>
          <p:nvPr/>
        </p:nvSpPr>
        <p:spPr>
          <a:xfrm>
            <a:off x="7333488" y="4956048"/>
            <a:ext cx="274320" cy="0"/>
          </a:xfrm>
          <a:prstGeom prst="line">
            <a:avLst/>
          </a:prstGeom>
          <a:noFill/>
          <a:ln w="38100">
            <a:solidFill>
              <a:srgbClr val="B1840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90688" y="4800600"/>
            <a:ext cx="2395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 log + review call</a:t>
            </a:r>
            <a:endParaRPr lang="en-US" sz="1750" dirty="0"/>
          </a:p>
        </p:txBody>
      </p:sp>
      <p:sp>
        <p:nvSpPr>
          <p:cNvPr id="31" name="Shape 29"/>
          <p:cNvSpPr/>
          <p:nvPr/>
        </p:nvSpPr>
        <p:spPr>
          <a:xfrm>
            <a:off x="621792" y="5806440"/>
            <a:ext cx="9683496" cy="43891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50392" y="5925312"/>
            <a:ext cx="9235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PLUS  /  routine website care  ·  one clear priority queue  ·  evidence of every completed item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92608" y="6611112"/>
            <a:ext cx="246888" cy="164592"/>
          </a:xfrm>
          <a:prstGeom prst="rect">
            <a:avLst/>
          </a:prstGeom>
          <a:solidFill>
            <a:srgbClr val="FF4138"/>
          </a:solidFill>
          <a:ln w="12700">
            <a:solidFill>
              <a:srgbClr val="FF4138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58368" y="6615684"/>
            <a:ext cx="3108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404200  /  AMSA ARCHITECTS</a:t>
            </a:r>
            <a:endParaRPr lang="en-US" sz="750" dirty="0"/>
          </a:p>
        </p:txBody>
      </p:sp>
      <p:sp>
        <p:nvSpPr>
          <p:cNvPr id="36" name="Text 34"/>
          <p:cNvSpPr txBox="1"/>
          <p:nvPr/>
        </p:nvSpPr>
        <p:spPr>
          <a:xfrm>
            <a:off x="11201400" y="6611112"/>
            <a:ext cx="411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502920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120" kern="0" dirty="0">
                <a:solidFill>
                  <a:srgbClr val="FF4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SEO IN PLAIN LANGUAGE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841248"/>
            <a:ext cx="10835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SEO works like a resolved submission.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21792" y="1609344"/>
            <a:ext cx="5321808" cy="4517136"/>
          </a:xfrm>
          <a:prstGeom prst="rect">
            <a:avLst/>
          </a:prstGeom>
          <a:solidFill>
            <a:srgbClr val="FFFAF0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77824" y="189280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4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353312" y="1874520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TECHNICAL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2724912" y="1847088"/>
            <a:ext cx="2852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submission can be opened and read.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77824" y="2505456"/>
            <a:ext cx="4700016" cy="0"/>
          </a:xfrm>
          <a:prstGeom prst="line">
            <a:avLst/>
          </a:prstGeom>
          <a:noFill/>
          <a:ln w="7620">
            <a:solidFill>
              <a:srgbClr val="D8D1C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77824" y="272491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8A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353312" y="2706624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ON-PAGE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2724912" y="2679192"/>
            <a:ext cx="2852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drawing has a useful title and explanation.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77824" y="3337560"/>
            <a:ext cx="4700016" cy="0"/>
          </a:xfrm>
          <a:prstGeom prst="line">
            <a:avLst/>
          </a:prstGeom>
          <a:noFill/>
          <a:ln w="7620">
            <a:solidFill>
              <a:srgbClr val="D8D1C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77824" y="35570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B18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1353312" y="3538728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2724912" y="3511296"/>
            <a:ext cx="2852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practice and location are easy to verify.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77824" y="4169664"/>
            <a:ext cx="4700016" cy="0"/>
          </a:xfrm>
          <a:prstGeom prst="line">
            <a:avLst/>
          </a:prstGeom>
          <a:noFill/>
          <a:ln w="7620">
            <a:solidFill>
              <a:srgbClr val="D8D1C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77824" y="43891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4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370832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OFF-PAGE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2724912" y="4343400"/>
            <a:ext cx="2852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Credible publishers and juries refer to the work.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77824" y="5001768"/>
            <a:ext cx="4700016" cy="0"/>
          </a:xfrm>
          <a:prstGeom prst="line">
            <a:avLst/>
          </a:prstGeom>
          <a:noFill/>
          <a:ln w="7620">
            <a:solidFill>
              <a:srgbClr val="D8D1C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77824" y="522122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8A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353312" y="5202936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2724912" y="5175504"/>
            <a:ext cx="2852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 evidence supports a decision.</a:t>
            </a:r>
            <a:endParaRPr lang="en-US" sz="1600" dirty="0"/>
          </a:p>
        </p:txBody>
      </p:sp>
      <p:pic>
        <p:nvPicPr>
          <p:cNvPr id="24" name="Image 0" descr="C:\Users\User\Desktop\CLEINTS PITCH\tmp\amsa_meeting_pack\converted\AMSA_home_0021-0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99632" y="1609344"/>
            <a:ext cx="5376672" cy="4517136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6199632" y="5010912"/>
            <a:ext cx="5376672" cy="1115568"/>
          </a:xfrm>
          <a:prstGeom prst="rect">
            <a:avLst/>
          </a:prstGeom>
          <a:solidFill>
            <a:srgbClr val="000000">
              <a:alpha val="96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473952" y="5276088"/>
            <a:ext cx="4846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SEO helps search engines understand the work — and helps clients decide.</a:t>
            </a:r>
            <a:endParaRPr lang="en-US" sz="1750" dirty="0"/>
          </a:p>
        </p:txBody>
      </p:sp>
      <p:sp>
        <p:nvSpPr>
          <p:cNvPr id="27" name="Shape 2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92608" y="6611112"/>
            <a:ext cx="246888" cy="164592"/>
          </a:xfrm>
          <a:prstGeom prst="rect">
            <a:avLst/>
          </a:prstGeom>
          <a:solidFill>
            <a:srgbClr val="FF4138"/>
          </a:solidFill>
          <a:ln w="12700">
            <a:solidFill>
              <a:srgbClr val="FF4138">
                <a:alpha val="0"/>
              </a:srgbClr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" y="6615684"/>
            <a:ext cx="3108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404200  /  AMSA ARCHITECTS</a:t>
            </a:r>
            <a:endParaRPr lang="en-US" sz="750" dirty="0"/>
          </a:p>
        </p:txBody>
      </p:sp>
      <p:sp>
        <p:nvSpPr>
          <p:cNvPr id="30" name="Text 27"/>
          <p:cNvSpPr txBox="1"/>
          <p:nvPr/>
        </p:nvSpPr>
        <p:spPr>
          <a:xfrm>
            <a:off x="11201400" y="6611112"/>
            <a:ext cx="411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502920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120" kern="0" dirty="0">
                <a:solidFill>
                  <a:srgbClr val="FF4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THE FIVE OPERATING LAYERS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841248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Each SEO layer solves a distinct problem.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621792" y="1783080"/>
            <a:ext cx="164592" cy="713232"/>
          </a:xfrm>
          <a:prstGeom prst="rect">
            <a:avLst/>
          </a:prstGeom>
          <a:solidFill>
            <a:srgbClr val="FF4138"/>
          </a:solidFill>
          <a:ln w="12700">
            <a:solidFill>
              <a:srgbClr val="FF4138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87552" y="187452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4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591056" y="1810512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3858768" y="1847088"/>
            <a:ext cx="6903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494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Reach, crawl, index, speed, mobile, forms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87552" y="2496312"/>
            <a:ext cx="9784080" cy="0"/>
          </a:xfrm>
          <a:prstGeom prst="line">
            <a:avLst/>
          </a:prstGeom>
          <a:noFill/>
          <a:ln w="7620">
            <a:solidFill>
              <a:srgbClr val="D8D1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2642616"/>
            <a:ext cx="164592" cy="713232"/>
          </a:xfrm>
          <a:prstGeom prst="rect">
            <a:avLst/>
          </a:prstGeom>
          <a:solidFill>
            <a:srgbClr val="008A5D"/>
          </a:solidFill>
          <a:ln w="12700">
            <a:solidFill>
              <a:srgbClr val="008A5D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87552" y="273405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8A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591056" y="2670048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ON-PAGE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858768" y="2706624"/>
            <a:ext cx="6903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494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Titles, structure, project narratives, internal links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87552" y="3355848"/>
            <a:ext cx="9784080" cy="0"/>
          </a:xfrm>
          <a:prstGeom prst="line">
            <a:avLst/>
          </a:prstGeom>
          <a:noFill/>
          <a:ln w="7620">
            <a:solidFill>
              <a:srgbClr val="D8D1C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" y="3502152"/>
            <a:ext cx="164592" cy="713232"/>
          </a:xfrm>
          <a:prstGeom prst="rect">
            <a:avLst/>
          </a:prstGeom>
          <a:solidFill>
            <a:srgbClr val="B18400"/>
          </a:solidFill>
          <a:ln w="12700">
            <a:solidFill>
              <a:srgbClr val="B18400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87552" y="359359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B18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591056" y="352958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3858768" y="3566160"/>
            <a:ext cx="6903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494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Maps, business data, service areas, reviews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87552" y="4215384"/>
            <a:ext cx="9784080" cy="0"/>
          </a:xfrm>
          <a:prstGeom prst="line">
            <a:avLst/>
          </a:prstGeom>
          <a:noFill/>
          <a:ln w="7620">
            <a:solidFill>
              <a:srgbClr val="D8D1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" y="4361688"/>
            <a:ext cx="164592" cy="713232"/>
          </a:xfrm>
          <a:prstGeom prst="rect">
            <a:avLst/>
          </a:prstGeom>
          <a:solidFill>
            <a:srgbClr val="FF4138"/>
          </a:solidFill>
          <a:ln w="12700">
            <a:solidFill>
              <a:srgbClr val="FF4138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87552" y="44531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4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591056" y="438912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OFF-PAGE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3858768" y="4425696"/>
            <a:ext cx="6903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494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Publications, awards, collaborators, credible mentions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87552" y="5074920"/>
            <a:ext cx="9784080" cy="0"/>
          </a:xfrm>
          <a:prstGeom prst="line">
            <a:avLst/>
          </a:prstGeom>
          <a:noFill/>
          <a:ln w="7620">
            <a:solidFill>
              <a:srgbClr val="D8D1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" y="5221224"/>
            <a:ext cx="164592" cy="713232"/>
          </a:xfrm>
          <a:prstGeom prst="rect">
            <a:avLst/>
          </a:prstGeom>
          <a:solidFill>
            <a:srgbClr val="008A5D"/>
          </a:solidFill>
          <a:ln w="12700">
            <a:solidFill>
              <a:srgbClr val="008A5D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87552" y="5312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8A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591056" y="524865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3858768" y="5285232"/>
            <a:ext cx="6903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494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growing body of useful first-hand evidence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87552" y="5934456"/>
            <a:ext cx="9784080" cy="0"/>
          </a:xfrm>
          <a:prstGeom prst="line">
            <a:avLst/>
          </a:prstGeom>
          <a:noFill/>
          <a:ln w="7620">
            <a:solidFill>
              <a:srgbClr val="D8D1C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759952" y="5833872"/>
            <a:ext cx="1993392" cy="3657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915400" y="5934456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CONNECTED SYSTEM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92608" y="6611112"/>
            <a:ext cx="246888" cy="164592"/>
          </a:xfrm>
          <a:prstGeom prst="rect">
            <a:avLst/>
          </a:prstGeom>
          <a:solidFill>
            <a:srgbClr val="FF4138"/>
          </a:solidFill>
          <a:ln w="12700">
            <a:solidFill>
              <a:srgbClr val="FF4138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58368" y="6615684"/>
            <a:ext cx="3108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404200  /  AMSA ARCHITECTS</a:t>
            </a:r>
            <a:endParaRPr lang="en-US" sz="750" dirty="0"/>
          </a:p>
        </p:txBody>
      </p:sp>
      <p:sp>
        <p:nvSpPr>
          <p:cNvPr id="34" name="Text 32"/>
          <p:cNvSpPr txBox="1"/>
          <p:nvPr/>
        </p:nvSpPr>
        <p:spPr>
          <a:xfrm>
            <a:off x="11201400" y="6611112"/>
            <a:ext cx="411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502920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120" kern="0" dirty="0">
                <a:solidFill>
                  <a:srgbClr val="FF4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CONTENT ENGINE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8412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project powers a month of content.</a:t>
            </a:r>
            <a:endParaRPr lang="en-US" sz="3700" dirty="0"/>
          </a:p>
        </p:txBody>
      </p:sp>
      <p:pic>
        <p:nvPicPr>
          <p:cNvPr id="4" name="Image 0" descr="C:\Users\User\Desktop\CLEINTS PITCH\tmp\amsa_meeting_pack\converted\AMSA_commercial_0001-0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959352" y="1828800"/>
            <a:ext cx="4251960" cy="363931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959352" y="4828032"/>
            <a:ext cx="4251960" cy="640080"/>
          </a:xfrm>
          <a:prstGeom prst="rect">
            <a:avLst/>
          </a:prstGeom>
          <a:solidFill>
            <a:srgbClr val="000000">
              <a:alpha val="96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206240" y="501091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4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OF RECORD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5925312" y="4965192"/>
            <a:ext cx="1975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AMSA project story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13232" y="201168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4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1225296" y="1975104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Instagram carousel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1225296" y="2606040"/>
            <a:ext cx="2212848" cy="0"/>
          </a:xfrm>
          <a:prstGeom prst="line">
            <a:avLst/>
          </a:prstGeom>
          <a:noFill/>
          <a:ln w="8890">
            <a:solidFill>
              <a:srgbClr val="D8D1C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13232" y="304495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8A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225296" y="3008376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Facebook update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1225296" y="3639312"/>
            <a:ext cx="2212848" cy="0"/>
          </a:xfrm>
          <a:prstGeom prst="line">
            <a:avLst/>
          </a:prstGeom>
          <a:noFill/>
          <a:ln w="8890">
            <a:solidFill>
              <a:srgbClr val="D8D1C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13232" y="4078224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B18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1225296" y="4041648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Pinterest pins</a:t>
            </a:r>
            <a:endParaRPr lang="en-US" sz="1900" dirty="0"/>
          </a:p>
        </p:txBody>
      </p:sp>
      <p:sp>
        <p:nvSpPr>
          <p:cNvPr id="16" name="Shape 13"/>
          <p:cNvSpPr/>
          <p:nvPr/>
        </p:nvSpPr>
        <p:spPr>
          <a:xfrm>
            <a:off x="1225296" y="4672584"/>
            <a:ext cx="2212848" cy="0"/>
          </a:xfrm>
          <a:prstGeom prst="line">
            <a:avLst/>
          </a:prstGeom>
          <a:noFill/>
          <a:ln w="8890">
            <a:solidFill>
              <a:srgbClr val="D8D1C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741664" y="201168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4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9235440" y="1975104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LinkedIn narrative</a:t>
            </a:r>
            <a:endParaRPr lang="en-US" sz="1900" dirty="0"/>
          </a:p>
        </p:txBody>
      </p:sp>
      <p:sp>
        <p:nvSpPr>
          <p:cNvPr id="19" name="Shape 16"/>
          <p:cNvSpPr/>
          <p:nvPr/>
        </p:nvSpPr>
        <p:spPr>
          <a:xfrm>
            <a:off x="9235440" y="2606040"/>
            <a:ext cx="2240280" cy="0"/>
          </a:xfrm>
          <a:prstGeom prst="line">
            <a:avLst/>
          </a:prstGeom>
          <a:noFill/>
          <a:ln w="8890">
            <a:solidFill>
              <a:srgbClr val="D8D1C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741664" y="304495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8A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9235440" y="3008376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Google profile update</a:t>
            </a:r>
            <a:endParaRPr lang="en-US" sz="1900" dirty="0"/>
          </a:p>
        </p:txBody>
      </p:sp>
      <p:sp>
        <p:nvSpPr>
          <p:cNvPr id="22" name="Shape 19"/>
          <p:cNvSpPr/>
          <p:nvPr/>
        </p:nvSpPr>
        <p:spPr>
          <a:xfrm>
            <a:off x="9235440" y="3639312"/>
            <a:ext cx="2240280" cy="0"/>
          </a:xfrm>
          <a:prstGeom prst="line">
            <a:avLst/>
          </a:prstGeom>
          <a:noFill/>
          <a:ln w="8890">
            <a:solidFill>
              <a:srgbClr val="D8D1C5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741664" y="4078224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B18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9235440" y="404164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Editorial fact sheet</a:t>
            </a:r>
            <a:endParaRPr lang="en-US" sz="1900" dirty="0"/>
          </a:p>
        </p:txBody>
      </p:sp>
      <p:sp>
        <p:nvSpPr>
          <p:cNvPr id="25" name="Shape 22"/>
          <p:cNvSpPr/>
          <p:nvPr/>
        </p:nvSpPr>
        <p:spPr>
          <a:xfrm>
            <a:off x="9235440" y="4672584"/>
            <a:ext cx="2240280" cy="0"/>
          </a:xfrm>
          <a:prstGeom prst="line">
            <a:avLst/>
          </a:prstGeom>
          <a:noFill/>
          <a:ln w="8890">
            <a:solidFill>
              <a:srgbClr val="D8D1C5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874520" y="5669280"/>
            <a:ext cx="84307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AMSA supplies approved facts and images once. 404200 researches, writes, adapts, schedules and records the output.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92608" y="6611112"/>
            <a:ext cx="246888" cy="164592"/>
          </a:xfrm>
          <a:prstGeom prst="rect">
            <a:avLst/>
          </a:prstGeom>
          <a:solidFill>
            <a:srgbClr val="FF4138"/>
          </a:solidFill>
          <a:ln w="12700">
            <a:solidFill>
              <a:srgbClr val="FF4138">
                <a:alpha val="0"/>
              </a:srgbClr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" y="6615684"/>
            <a:ext cx="3108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404200  /  AMSA ARCHITECTS</a:t>
            </a:r>
            <a:endParaRPr lang="en-US" sz="750" dirty="0"/>
          </a:p>
        </p:txBody>
      </p:sp>
      <p:sp>
        <p:nvSpPr>
          <p:cNvPr id="30" name="Text 27"/>
          <p:cNvSpPr txBox="1"/>
          <p:nvPr/>
        </p:nvSpPr>
        <p:spPr>
          <a:xfrm>
            <a:off x="11201400" y="6611112"/>
            <a:ext cx="411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502920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120" kern="0" dirty="0">
                <a:solidFill>
                  <a:srgbClr val="FF4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ONLINE PRESENCE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8412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Twenty destinations, prioritised and owned.</a:t>
            </a:r>
            <a:endParaRPr lang="en-US" sz="3700" dirty="0"/>
          </a:p>
        </p:txBody>
      </p:sp>
      <p:sp>
        <p:nvSpPr>
          <p:cNvPr id="4" name="Shape 2"/>
          <p:cNvSpPr/>
          <p:nvPr/>
        </p:nvSpPr>
        <p:spPr>
          <a:xfrm>
            <a:off x="621792" y="1828800"/>
            <a:ext cx="2331720" cy="164592"/>
          </a:xfrm>
          <a:prstGeom prst="rect">
            <a:avLst/>
          </a:prstGeom>
          <a:solidFill>
            <a:srgbClr val="FF4138"/>
          </a:solidFill>
          <a:ln w="12700">
            <a:solidFill>
              <a:srgbClr val="FF4138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22128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+ VERIFY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2761488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2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Google Business Profile</a:t>
            </a:r>
            <a:endParaRPr lang="en-US" sz="1620" dirty="0"/>
          </a:p>
        </p:txBody>
      </p:sp>
      <p:sp>
        <p:nvSpPr>
          <p:cNvPr id="7" name="Shape 5"/>
          <p:cNvSpPr/>
          <p:nvPr/>
        </p:nvSpPr>
        <p:spPr>
          <a:xfrm>
            <a:off x="621792" y="3282696"/>
            <a:ext cx="2331720" cy="0"/>
          </a:xfrm>
          <a:prstGeom prst="line">
            <a:avLst/>
          </a:prstGeom>
          <a:noFill/>
          <a:ln w="7620">
            <a:solidFill>
              <a:srgbClr val="D8D1C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" y="3401568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Bing Places</a:t>
            </a:r>
            <a:endParaRPr lang="en-US" sz="1620" dirty="0"/>
          </a:p>
        </p:txBody>
      </p:sp>
      <p:sp>
        <p:nvSpPr>
          <p:cNvPr id="9" name="Shape 7"/>
          <p:cNvSpPr/>
          <p:nvPr/>
        </p:nvSpPr>
        <p:spPr>
          <a:xfrm>
            <a:off x="621792" y="3922776"/>
            <a:ext cx="2331720" cy="0"/>
          </a:xfrm>
          <a:prstGeom prst="line">
            <a:avLst/>
          </a:prstGeom>
          <a:noFill/>
          <a:ln w="7620">
            <a:solidFill>
              <a:srgbClr val="D8D1C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" y="4041648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Apple Business</a:t>
            </a:r>
            <a:endParaRPr lang="en-US" sz="1620" dirty="0"/>
          </a:p>
        </p:txBody>
      </p:sp>
      <p:sp>
        <p:nvSpPr>
          <p:cNvPr id="11" name="Shape 9"/>
          <p:cNvSpPr/>
          <p:nvPr/>
        </p:nvSpPr>
        <p:spPr>
          <a:xfrm>
            <a:off x="621792" y="4562856"/>
            <a:ext cx="2331720" cy="0"/>
          </a:xfrm>
          <a:prstGeom prst="line">
            <a:avLst/>
          </a:prstGeom>
          <a:noFill/>
          <a:ln w="7620">
            <a:solidFill>
              <a:srgbClr val="D8D1C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" y="4681728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 ETEK</a:t>
            </a:r>
            <a:endParaRPr lang="en-US" sz="1620" dirty="0"/>
          </a:p>
        </p:txBody>
      </p:sp>
      <p:sp>
        <p:nvSpPr>
          <p:cNvPr id="13" name="Shape 11"/>
          <p:cNvSpPr/>
          <p:nvPr/>
        </p:nvSpPr>
        <p:spPr>
          <a:xfrm>
            <a:off x="621792" y="5202936"/>
            <a:ext cx="2331720" cy="0"/>
          </a:xfrm>
          <a:prstGeom prst="line">
            <a:avLst/>
          </a:prstGeom>
          <a:noFill/>
          <a:ln w="7620">
            <a:solidFill>
              <a:srgbClr val="D8D1C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" y="5321808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 World-Architects</a:t>
            </a:r>
            <a:endParaRPr lang="en-US" sz="1620" dirty="0"/>
          </a:p>
        </p:txBody>
      </p:sp>
      <p:sp>
        <p:nvSpPr>
          <p:cNvPr id="15" name="Shape 13"/>
          <p:cNvSpPr/>
          <p:nvPr/>
        </p:nvSpPr>
        <p:spPr>
          <a:xfrm>
            <a:off x="621792" y="5843016"/>
            <a:ext cx="2331720" cy="0"/>
          </a:xfrm>
          <a:prstGeom prst="line">
            <a:avLst/>
          </a:prstGeom>
          <a:noFill/>
          <a:ln w="7620">
            <a:solidFill>
              <a:srgbClr val="D8D1C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02152" y="1828800"/>
            <a:ext cx="2331720" cy="164592"/>
          </a:xfrm>
          <a:prstGeom prst="rect">
            <a:avLst/>
          </a:prstGeom>
          <a:solidFill>
            <a:srgbClr val="008A5D"/>
          </a:solidFill>
          <a:ln w="12700">
            <a:solidFill>
              <a:srgbClr val="008A5D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502152" y="22128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SOCIAL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502152" y="2761488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2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 LinkedIn</a:t>
            </a:r>
            <a:endParaRPr lang="en-US" sz="1620" dirty="0"/>
          </a:p>
        </p:txBody>
      </p:sp>
      <p:sp>
        <p:nvSpPr>
          <p:cNvPr id="19" name="Shape 17"/>
          <p:cNvSpPr/>
          <p:nvPr/>
        </p:nvSpPr>
        <p:spPr>
          <a:xfrm>
            <a:off x="3502152" y="3282696"/>
            <a:ext cx="2331720" cy="0"/>
          </a:xfrm>
          <a:prstGeom prst="line">
            <a:avLst/>
          </a:prstGeom>
          <a:noFill/>
          <a:ln w="7620">
            <a:solidFill>
              <a:srgbClr val="D8D1C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502152" y="3401568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 Instagram</a:t>
            </a:r>
            <a:endParaRPr lang="en-US" sz="1620" dirty="0"/>
          </a:p>
        </p:txBody>
      </p:sp>
      <p:sp>
        <p:nvSpPr>
          <p:cNvPr id="21" name="Shape 19"/>
          <p:cNvSpPr/>
          <p:nvPr/>
        </p:nvSpPr>
        <p:spPr>
          <a:xfrm>
            <a:off x="3502152" y="3922776"/>
            <a:ext cx="2331720" cy="0"/>
          </a:xfrm>
          <a:prstGeom prst="line">
            <a:avLst/>
          </a:prstGeom>
          <a:noFill/>
          <a:ln w="7620">
            <a:solidFill>
              <a:srgbClr val="D8D1C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502152" y="4041648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 Facebook</a:t>
            </a:r>
            <a:endParaRPr lang="en-US" sz="1620" dirty="0"/>
          </a:p>
        </p:txBody>
      </p:sp>
      <p:sp>
        <p:nvSpPr>
          <p:cNvPr id="23" name="Shape 21"/>
          <p:cNvSpPr/>
          <p:nvPr/>
        </p:nvSpPr>
        <p:spPr>
          <a:xfrm>
            <a:off x="3502152" y="4562856"/>
            <a:ext cx="2331720" cy="0"/>
          </a:xfrm>
          <a:prstGeom prst="line">
            <a:avLst/>
          </a:prstGeom>
          <a:noFill/>
          <a:ln w="7620">
            <a:solidFill>
              <a:srgbClr val="D8D1C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502152" y="4681728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 Pinterest Business</a:t>
            </a:r>
            <a:endParaRPr lang="en-US" sz="1620" dirty="0"/>
          </a:p>
        </p:txBody>
      </p:sp>
      <p:sp>
        <p:nvSpPr>
          <p:cNvPr id="25" name="Shape 23"/>
          <p:cNvSpPr/>
          <p:nvPr/>
        </p:nvSpPr>
        <p:spPr>
          <a:xfrm>
            <a:off x="3502152" y="5202936"/>
            <a:ext cx="2331720" cy="0"/>
          </a:xfrm>
          <a:prstGeom prst="line">
            <a:avLst/>
          </a:prstGeom>
          <a:noFill/>
          <a:ln w="7620">
            <a:solidFill>
              <a:srgbClr val="D8D1C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502152" y="5321808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 YouTube</a:t>
            </a:r>
            <a:endParaRPr lang="en-US" sz="1620" dirty="0"/>
          </a:p>
        </p:txBody>
      </p:sp>
      <p:sp>
        <p:nvSpPr>
          <p:cNvPr id="27" name="Shape 25"/>
          <p:cNvSpPr/>
          <p:nvPr/>
        </p:nvSpPr>
        <p:spPr>
          <a:xfrm>
            <a:off x="3502152" y="5843016"/>
            <a:ext cx="2331720" cy="0"/>
          </a:xfrm>
          <a:prstGeom prst="line">
            <a:avLst/>
          </a:prstGeom>
          <a:noFill/>
          <a:ln w="7620">
            <a:solidFill>
              <a:srgbClr val="D8D1C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82512" y="1828800"/>
            <a:ext cx="2331720" cy="164592"/>
          </a:xfrm>
          <a:prstGeom prst="rect">
            <a:avLst/>
          </a:prstGeom>
          <a:solidFill>
            <a:srgbClr val="B18400"/>
          </a:solidFill>
          <a:ln w="12700">
            <a:solidFill>
              <a:srgbClr val="B18400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82512" y="22128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PORTFOLIO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382512" y="2761488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2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 Vimeo</a:t>
            </a:r>
            <a:endParaRPr lang="en-US" sz="1620" dirty="0"/>
          </a:p>
        </p:txBody>
      </p:sp>
      <p:sp>
        <p:nvSpPr>
          <p:cNvPr id="31" name="Shape 29"/>
          <p:cNvSpPr/>
          <p:nvPr/>
        </p:nvSpPr>
        <p:spPr>
          <a:xfrm>
            <a:off x="6382512" y="3282696"/>
            <a:ext cx="2331720" cy="0"/>
          </a:xfrm>
          <a:prstGeom prst="line">
            <a:avLst/>
          </a:prstGeom>
          <a:noFill/>
          <a:ln w="7620">
            <a:solidFill>
              <a:srgbClr val="D8D1C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382512" y="3401568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 Houzz Pro</a:t>
            </a:r>
            <a:endParaRPr lang="en-US" sz="1620" dirty="0"/>
          </a:p>
        </p:txBody>
      </p:sp>
      <p:sp>
        <p:nvSpPr>
          <p:cNvPr id="33" name="Shape 31"/>
          <p:cNvSpPr/>
          <p:nvPr/>
        </p:nvSpPr>
        <p:spPr>
          <a:xfrm>
            <a:off x="6382512" y="3922776"/>
            <a:ext cx="2331720" cy="0"/>
          </a:xfrm>
          <a:prstGeom prst="line">
            <a:avLst/>
          </a:prstGeom>
          <a:noFill/>
          <a:ln w="7620">
            <a:solidFill>
              <a:srgbClr val="D8D1C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382512" y="4041648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 Architizer</a:t>
            </a:r>
            <a:endParaRPr lang="en-US" sz="1620" dirty="0"/>
          </a:p>
        </p:txBody>
      </p:sp>
      <p:sp>
        <p:nvSpPr>
          <p:cNvPr id="35" name="Shape 33"/>
          <p:cNvSpPr/>
          <p:nvPr/>
        </p:nvSpPr>
        <p:spPr>
          <a:xfrm>
            <a:off x="6382512" y="4562856"/>
            <a:ext cx="2331720" cy="0"/>
          </a:xfrm>
          <a:prstGeom prst="line">
            <a:avLst/>
          </a:prstGeom>
          <a:noFill/>
          <a:ln w="7620">
            <a:solidFill>
              <a:srgbClr val="D8D1C5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382512" y="4681728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 Archello</a:t>
            </a:r>
            <a:endParaRPr lang="en-US" sz="1620" dirty="0"/>
          </a:p>
        </p:txBody>
      </p:sp>
      <p:sp>
        <p:nvSpPr>
          <p:cNvPr id="37" name="Shape 35"/>
          <p:cNvSpPr/>
          <p:nvPr/>
        </p:nvSpPr>
        <p:spPr>
          <a:xfrm>
            <a:off x="6382512" y="5202936"/>
            <a:ext cx="2331720" cy="0"/>
          </a:xfrm>
          <a:prstGeom prst="line">
            <a:avLst/>
          </a:prstGeom>
          <a:noFill/>
          <a:ln w="7620">
            <a:solidFill>
              <a:srgbClr val="D8D1C5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382512" y="5321808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 Behance</a:t>
            </a:r>
            <a:endParaRPr lang="en-US" sz="1620" dirty="0"/>
          </a:p>
        </p:txBody>
      </p:sp>
      <p:sp>
        <p:nvSpPr>
          <p:cNvPr id="39" name="Shape 37"/>
          <p:cNvSpPr/>
          <p:nvPr/>
        </p:nvSpPr>
        <p:spPr>
          <a:xfrm>
            <a:off x="6382512" y="5843016"/>
            <a:ext cx="2331720" cy="0"/>
          </a:xfrm>
          <a:prstGeom prst="line">
            <a:avLst/>
          </a:prstGeom>
          <a:noFill/>
          <a:ln w="7620">
            <a:solidFill>
              <a:srgbClr val="D8D1C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262872" y="1828800"/>
            <a:ext cx="2331720" cy="164592"/>
          </a:xfrm>
          <a:prstGeom prst="rect">
            <a:avLst/>
          </a:prstGeom>
          <a:solidFill>
            <a:srgbClr val="FF4138"/>
          </a:solidFill>
          <a:ln w="12700">
            <a:solidFill>
              <a:srgbClr val="FF4138">
                <a:alpha val="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262872" y="22128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PUBLISH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9262872" y="2761488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2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  ArchDaily</a:t>
            </a:r>
            <a:endParaRPr lang="en-US" sz="1620" dirty="0"/>
          </a:p>
        </p:txBody>
      </p:sp>
      <p:sp>
        <p:nvSpPr>
          <p:cNvPr id="43" name="Shape 41"/>
          <p:cNvSpPr/>
          <p:nvPr/>
        </p:nvSpPr>
        <p:spPr>
          <a:xfrm>
            <a:off x="9262872" y="3282696"/>
            <a:ext cx="2331720" cy="0"/>
          </a:xfrm>
          <a:prstGeom prst="line">
            <a:avLst/>
          </a:prstGeom>
          <a:noFill/>
          <a:ln w="7620">
            <a:solidFill>
              <a:srgbClr val="D8D1C5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262872" y="3401568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  Dezeen</a:t>
            </a:r>
            <a:endParaRPr lang="en-US" sz="1620" dirty="0"/>
          </a:p>
        </p:txBody>
      </p:sp>
      <p:sp>
        <p:nvSpPr>
          <p:cNvPr id="45" name="Shape 43"/>
          <p:cNvSpPr/>
          <p:nvPr/>
        </p:nvSpPr>
        <p:spPr>
          <a:xfrm>
            <a:off x="9262872" y="3922776"/>
            <a:ext cx="2331720" cy="0"/>
          </a:xfrm>
          <a:prstGeom prst="line">
            <a:avLst/>
          </a:prstGeom>
          <a:noFill/>
          <a:ln w="7620">
            <a:solidFill>
              <a:srgbClr val="D8D1C5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262872" y="4041648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  designboom</a:t>
            </a:r>
            <a:endParaRPr lang="en-US" sz="1620" dirty="0"/>
          </a:p>
        </p:txBody>
      </p:sp>
      <p:sp>
        <p:nvSpPr>
          <p:cNvPr id="47" name="Shape 45"/>
          <p:cNvSpPr/>
          <p:nvPr/>
        </p:nvSpPr>
        <p:spPr>
          <a:xfrm>
            <a:off x="9262872" y="4562856"/>
            <a:ext cx="2331720" cy="0"/>
          </a:xfrm>
          <a:prstGeom prst="line">
            <a:avLst/>
          </a:prstGeom>
          <a:noFill/>
          <a:ln w="7620">
            <a:solidFill>
              <a:srgbClr val="D8D1C5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262872" y="4681728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  Issuu</a:t>
            </a:r>
            <a:endParaRPr lang="en-US" sz="1620" dirty="0"/>
          </a:p>
        </p:txBody>
      </p:sp>
      <p:sp>
        <p:nvSpPr>
          <p:cNvPr id="49" name="Shape 47"/>
          <p:cNvSpPr/>
          <p:nvPr/>
        </p:nvSpPr>
        <p:spPr>
          <a:xfrm>
            <a:off x="9262872" y="5202936"/>
            <a:ext cx="2331720" cy="0"/>
          </a:xfrm>
          <a:prstGeom prst="line">
            <a:avLst/>
          </a:prstGeom>
          <a:noFill/>
          <a:ln w="7620">
            <a:solidFill>
              <a:srgbClr val="D8D1C5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9262872" y="5321808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  GitHub</a:t>
            </a:r>
            <a:endParaRPr lang="en-US" sz="1620" dirty="0"/>
          </a:p>
        </p:txBody>
      </p:sp>
      <p:sp>
        <p:nvSpPr>
          <p:cNvPr id="51" name="Shape 49"/>
          <p:cNvSpPr/>
          <p:nvPr/>
        </p:nvSpPr>
        <p:spPr>
          <a:xfrm>
            <a:off x="9262872" y="5843016"/>
            <a:ext cx="2331720" cy="0"/>
          </a:xfrm>
          <a:prstGeom prst="line">
            <a:avLst/>
          </a:prstGeom>
          <a:noFill/>
          <a:ln w="7620">
            <a:solidFill>
              <a:srgbClr val="D8D1C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21792" y="5870448"/>
            <a:ext cx="10972800" cy="3657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832104" y="5971032"/>
            <a:ext cx="10561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 TO FOUR PROFILES CREATED, CLAIMED OR COMPLETED EACH MONTH  /  EDITORIAL ACCEPTANCE REMAINS WITH THE PUBLISHER</a:t>
            </a:r>
            <a:endParaRPr lang="en-US" sz="830" dirty="0"/>
          </a:p>
        </p:txBody>
      </p:sp>
      <p:sp>
        <p:nvSpPr>
          <p:cNvPr id="54" name="Shape 5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92608" y="6611112"/>
            <a:ext cx="246888" cy="164592"/>
          </a:xfrm>
          <a:prstGeom prst="rect">
            <a:avLst/>
          </a:prstGeom>
          <a:solidFill>
            <a:srgbClr val="FF4138"/>
          </a:solidFill>
          <a:ln w="12700">
            <a:solidFill>
              <a:srgbClr val="FF4138">
                <a:alpha val="0"/>
              </a:srgbClr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58368" y="6615684"/>
            <a:ext cx="3108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404200  /  AMSA ARCHITECTS</a:t>
            </a:r>
            <a:endParaRPr lang="en-US" sz="750" dirty="0"/>
          </a:p>
        </p:txBody>
      </p:sp>
      <p:sp>
        <p:nvSpPr>
          <p:cNvPr id="57" name="Text 55"/>
          <p:cNvSpPr txBox="1"/>
          <p:nvPr/>
        </p:nvSpPr>
        <p:spPr>
          <a:xfrm>
            <a:off x="11201400" y="6611112"/>
            <a:ext cx="411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502920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120" kern="0" dirty="0">
                <a:solidFill>
                  <a:srgbClr val="FF4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ACCOUNT OPENING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8412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AMSA owns every account.</a:t>
            </a:r>
            <a:endParaRPr lang="en-US" sz="3800" dirty="0"/>
          </a:p>
        </p:txBody>
      </p:sp>
      <p:pic>
        <p:nvPicPr>
          <p:cNvPr id="4" name="Image 0" descr="C:\Users\User\Desktop\CLEINTS PITCH\tmp\amsa_meeting_pack\converted\404200_hero_figur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33488" y="1609344"/>
            <a:ext cx="3977640" cy="431596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737360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4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1307592" y="1719072"/>
            <a:ext cx="1755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OR CLAIM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3154680" y="1700784"/>
            <a:ext cx="3639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an AMSA-owned email address where the platform permits.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307592" y="2331720"/>
            <a:ext cx="5486400" cy="0"/>
          </a:xfrm>
          <a:prstGeom prst="line">
            <a:avLst/>
          </a:prstGeom>
          <a:noFill/>
          <a:ln w="8890">
            <a:solidFill>
              <a:srgbClr val="D8D1C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2587752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08A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1307592" y="2569464"/>
            <a:ext cx="1755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COMPLETE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3154680" y="2551176"/>
            <a:ext cx="3639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Logo, biography, contact details, website, services and categories.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307592" y="3182112"/>
            <a:ext cx="5486400" cy="0"/>
          </a:xfrm>
          <a:prstGeom prst="line">
            <a:avLst/>
          </a:prstGeom>
          <a:noFill/>
          <a:ln w="8890">
            <a:solidFill>
              <a:srgbClr val="D8D1C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3438144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B18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1307592" y="3419856"/>
            <a:ext cx="1755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SECURE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3154680" y="3401568"/>
            <a:ext cx="3639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Two-factor security, recovery ownership and named admins.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307592" y="4032504"/>
            <a:ext cx="5486400" cy="0"/>
          </a:xfrm>
          <a:prstGeom prst="line">
            <a:avLst/>
          </a:prstGeom>
          <a:noFill/>
          <a:ln w="8890">
            <a:solidFill>
              <a:srgbClr val="D8D1C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1520" y="4288536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4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1307592" y="4270248"/>
            <a:ext cx="1755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LAUNCH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3154680" y="4251960"/>
            <a:ext cx="3639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 an initial content set so the profile opens with context.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1307592" y="4882896"/>
            <a:ext cx="5486400" cy="0"/>
          </a:xfrm>
          <a:prstGeom prst="line">
            <a:avLst/>
          </a:prstGeom>
          <a:noFill/>
          <a:ln w="8890">
            <a:solidFill>
              <a:srgbClr val="D8D1C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31520" y="513892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08A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1307592" y="5120640"/>
            <a:ext cx="1755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3154680" y="5102352"/>
            <a:ext cx="3639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channels that show relevance, referrals or editorial value.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1307592" y="5733288"/>
            <a:ext cx="5486400" cy="0"/>
          </a:xfrm>
          <a:prstGeom prst="line">
            <a:avLst/>
          </a:prstGeom>
          <a:noFill/>
          <a:ln w="8890">
            <a:solidFill>
              <a:srgbClr val="D8D1C5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242048" y="5358384"/>
            <a:ext cx="4160520" cy="76809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498080" y="555040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AMSA keeps permanent access.</a:t>
            </a:r>
            <a:endParaRPr lang="en-US" sz="1700" dirty="0"/>
          </a:p>
        </p:txBody>
      </p:sp>
      <p:sp>
        <p:nvSpPr>
          <p:cNvPr id="27" name="Shape 2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92608" y="6611112"/>
            <a:ext cx="246888" cy="164592"/>
          </a:xfrm>
          <a:prstGeom prst="rect">
            <a:avLst/>
          </a:prstGeom>
          <a:solidFill>
            <a:srgbClr val="FF4138"/>
          </a:solidFill>
          <a:ln w="12700">
            <a:solidFill>
              <a:srgbClr val="FF4138">
                <a:alpha val="0"/>
              </a:srgbClr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" y="6615684"/>
            <a:ext cx="3108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404200  /  AMSA ARCHITECTS</a:t>
            </a:r>
            <a:endParaRPr lang="en-US" sz="750" dirty="0"/>
          </a:p>
        </p:txBody>
      </p:sp>
      <p:sp>
        <p:nvSpPr>
          <p:cNvPr id="30" name="Text 27"/>
          <p:cNvSpPr txBox="1"/>
          <p:nvPr/>
        </p:nvSpPr>
        <p:spPr>
          <a:xfrm>
            <a:off x="11201400" y="6611112"/>
            <a:ext cx="411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502920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120" kern="0" dirty="0">
                <a:solidFill>
                  <a:srgbClr val="FF4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WEBSITE REBUILD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8412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WordPress stays. Elementor speeds updates.</a:t>
            </a:r>
            <a:endParaRPr lang="en-US" sz="3700" dirty="0"/>
          </a:p>
        </p:txBody>
      </p:sp>
      <p:pic>
        <p:nvPicPr>
          <p:cNvPr id="4" name="Image 0" descr="C:\Users\User\Desktop\CLEINTS PITCH\tmp\amsa_meeting_pack\converted\AMSA_commercial_1007-0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1792" y="1609344"/>
            <a:ext cx="6446520" cy="451713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1792" y="5138928"/>
            <a:ext cx="6446520" cy="987552"/>
          </a:xfrm>
          <a:prstGeom prst="rect">
            <a:avLst/>
          </a:prstGeom>
          <a:solidFill>
            <a:srgbClr val="000000">
              <a:alpha val="97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96112" y="5358384"/>
            <a:ext cx="58704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Elementor runs inside WordPress.</a:t>
            </a:r>
            <a:endParaRPr lang="en-US" sz="2050" dirty="0"/>
          </a:p>
        </p:txBody>
      </p:sp>
      <p:sp>
        <p:nvSpPr>
          <p:cNvPr id="7" name="Text 4"/>
          <p:cNvSpPr txBox="1"/>
          <p:nvPr/>
        </p:nvSpPr>
        <p:spPr>
          <a:xfrm>
            <a:off x="896112" y="5696712"/>
            <a:ext cx="5870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 HTML/CSS refines the precise details.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516368" y="1700784"/>
            <a:ext cx="4389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4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083296" y="1682496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TEMPLATES</a:t>
            </a:r>
            <a:endParaRPr lang="en-US" sz="1850" dirty="0"/>
          </a:p>
        </p:txBody>
      </p:sp>
      <p:sp>
        <p:nvSpPr>
          <p:cNvPr id="10" name="Text 7"/>
          <p:cNvSpPr txBox="1"/>
          <p:nvPr/>
        </p:nvSpPr>
        <p:spPr>
          <a:xfrm>
            <a:off x="8083296" y="1993392"/>
            <a:ext cx="33192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494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header, footer, project pages and consistent design tokens.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083296" y="2578608"/>
            <a:ext cx="3319272" cy="0"/>
          </a:xfrm>
          <a:prstGeom prst="line">
            <a:avLst/>
          </a:prstGeom>
          <a:noFill/>
          <a:ln w="8890">
            <a:solidFill>
              <a:srgbClr val="D8D1C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516368" y="2880360"/>
            <a:ext cx="4389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8A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083296" y="2862072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EASIER UPDATES</a:t>
            </a:r>
            <a:endParaRPr lang="en-US" sz="1850" dirty="0"/>
          </a:p>
        </p:txBody>
      </p:sp>
      <p:sp>
        <p:nvSpPr>
          <p:cNvPr id="14" name="Text 11"/>
          <p:cNvSpPr txBox="1"/>
          <p:nvPr/>
        </p:nvSpPr>
        <p:spPr>
          <a:xfrm>
            <a:off x="8083296" y="3172968"/>
            <a:ext cx="33192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494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project pages start from an approved structure.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083296" y="3758184"/>
            <a:ext cx="3319272" cy="0"/>
          </a:xfrm>
          <a:prstGeom prst="line">
            <a:avLst/>
          </a:prstGeom>
          <a:noFill/>
          <a:ln w="8890">
            <a:solidFill>
              <a:srgbClr val="D8D1C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516368" y="4059936"/>
            <a:ext cx="4389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B18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8083296" y="4041648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FOUNDATIONS</a:t>
            </a:r>
            <a:endParaRPr lang="en-US" sz="1850" dirty="0"/>
          </a:p>
        </p:txBody>
      </p:sp>
      <p:sp>
        <p:nvSpPr>
          <p:cNvPr id="18" name="Text 15"/>
          <p:cNvSpPr txBox="1"/>
          <p:nvPr/>
        </p:nvSpPr>
        <p:spPr>
          <a:xfrm>
            <a:off x="8083296" y="4352544"/>
            <a:ext cx="33192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494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URLs, metadata, images, internal links and sitemaps stay protected.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083296" y="4937760"/>
            <a:ext cx="3319272" cy="0"/>
          </a:xfrm>
          <a:prstGeom prst="line">
            <a:avLst/>
          </a:prstGeom>
          <a:noFill/>
          <a:ln w="8890">
            <a:solidFill>
              <a:srgbClr val="D8D1C5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92608" y="6611112"/>
            <a:ext cx="246888" cy="164592"/>
          </a:xfrm>
          <a:prstGeom prst="rect">
            <a:avLst/>
          </a:prstGeom>
          <a:solidFill>
            <a:srgbClr val="FF4138"/>
          </a:solidFill>
          <a:ln w="12700">
            <a:solidFill>
              <a:srgbClr val="FF4138">
                <a:alpha val="0"/>
              </a:srgbClr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6615684"/>
            <a:ext cx="3108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404200  /  AMSA ARCHITECTS</a:t>
            </a:r>
            <a:endParaRPr lang="en-US" sz="750" dirty="0"/>
          </a:p>
        </p:txBody>
      </p:sp>
      <p:sp>
        <p:nvSpPr>
          <p:cNvPr id="23" name="Text 20"/>
          <p:cNvSpPr txBox="1"/>
          <p:nvPr/>
        </p:nvSpPr>
        <p:spPr>
          <a:xfrm>
            <a:off x="11201400" y="6611112"/>
            <a:ext cx="411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502920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120" kern="0" dirty="0">
                <a:solidFill>
                  <a:srgbClr val="FF4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8–12 WEEK IMPLEMENTATION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8412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work is inventory, migration and testing.</a:t>
            </a:r>
            <a:endParaRPr lang="en-US" sz="3700" dirty="0"/>
          </a:p>
        </p:txBody>
      </p:sp>
      <p:sp>
        <p:nvSpPr>
          <p:cNvPr id="4" name="Shape 2"/>
          <p:cNvSpPr/>
          <p:nvPr/>
        </p:nvSpPr>
        <p:spPr>
          <a:xfrm>
            <a:off x="621792" y="1920240"/>
            <a:ext cx="2551176" cy="155448"/>
          </a:xfrm>
          <a:prstGeom prst="rect">
            <a:avLst/>
          </a:prstGeom>
          <a:solidFill>
            <a:srgbClr val="FF4138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2304288"/>
            <a:ext cx="2551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4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WEEKS 1–2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2697480"/>
            <a:ext cx="2551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INVENTORY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3364992"/>
            <a:ext cx="25511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494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Pages, URLs, images, forms, analytics, plugins, backups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5285232"/>
            <a:ext cx="25511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D8D1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3438144" y="1920240"/>
            <a:ext cx="2551176" cy="155448"/>
          </a:xfrm>
          <a:prstGeom prst="rect">
            <a:avLst/>
          </a:prstGeom>
          <a:solidFill>
            <a:srgbClr val="008A5D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38144" y="2304288"/>
            <a:ext cx="2551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8A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WEEKS 3–6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3438144" y="2697480"/>
            <a:ext cx="2551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3438144" y="3364992"/>
            <a:ext cx="25511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494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parts, project templates, approved content and responsive layouts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438144" y="5285232"/>
            <a:ext cx="25511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D8D1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3400" dirty="0"/>
          </a:p>
        </p:txBody>
      </p:sp>
      <p:sp>
        <p:nvSpPr>
          <p:cNvPr id="14" name="Shape 12"/>
          <p:cNvSpPr/>
          <p:nvPr/>
        </p:nvSpPr>
        <p:spPr>
          <a:xfrm>
            <a:off x="6254496" y="1920240"/>
            <a:ext cx="2551176" cy="155448"/>
          </a:xfrm>
          <a:prstGeom prst="rect">
            <a:avLst/>
          </a:prstGeom>
          <a:solidFill>
            <a:srgbClr val="B184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54496" y="2304288"/>
            <a:ext cx="2551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B18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WEEKS 7–9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254496" y="2697480"/>
            <a:ext cx="2551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2700" dirty="0"/>
          </a:p>
        </p:txBody>
      </p:sp>
      <p:sp>
        <p:nvSpPr>
          <p:cNvPr id="17" name="Text 15"/>
          <p:cNvSpPr txBox="1"/>
          <p:nvPr/>
        </p:nvSpPr>
        <p:spPr>
          <a:xfrm>
            <a:off x="6254496" y="3364992"/>
            <a:ext cx="25511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494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Mobile, browsers, galleries, forms, links, accessibility and performance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254496" y="5285232"/>
            <a:ext cx="25511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D8D1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3400" dirty="0"/>
          </a:p>
        </p:txBody>
      </p:sp>
      <p:sp>
        <p:nvSpPr>
          <p:cNvPr id="19" name="Shape 17"/>
          <p:cNvSpPr/>
          <p:nvPr/>
        </p:nvSpPr>
        <p:spPr>
          <a:xfrm>
            <a:off x="9070848" y="1920240"/>
            <a:ext cx="2551176" cy="155448"/>
          </a:xfrm>
          <a:prstGeom prst="rect">
            <a:avLst/>
          </a:prstGeom>
          <a:solidFill>
            <a:srgbClr val="FF4138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070848" y="2304288"/>
            <a:ext cx="2551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4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WEEKS 10–12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9070848" y="2697480"/>
            <a:ext cx="2551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RELEASE</a:t>
            </a:r>
            <a:endParaRPr lang="en-US" sz="2700" dirty="0"/>
          </a:p>
        </p:txBody>
      </p:sp>
      <p:sp>
        <p:nvSpPr>
          <p:cNvPr id="22" name="Text 20"/>
          <p:cNvSpPr txBox="1"/>
          <p:nvPr/>
        </p:nvSpPr>
        <p:spPr>
          <a:xfrm>
            <a:off x="9070848" y="3364992"/>
            <a:ext cx="25511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494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Review, corrections, redirects, sitemap, analytics, launch and monitoring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070848" y="5285232"/>
            <a:ext cx="25511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D8D1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3400" dirty="0"/>
          </a:p>
        </p:txBody>
      </p:sp>
      <p:sp>
        <p:nvSpPr>
          <p:cNvPr id="24" name="Shape 22"/>
          <p:cNvSpPr/>
          <p:nvPr/>
        </p:nvSpPr>
        <p:spPr>
          <a:xfrm>
            <a:off x="621792" y="5852160"/>
            <a:ext cx="10972800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68680" y="5961888"/>
            <a:ext cx="10479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30" b="1" spc="8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CURRENT WEBSITE STAYS LIVE UNTIL AMSA APPROVES THE REPLACEMENT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2608" y="6611112"/>
            <a:ext cx="246888" cy="164592"/>
          </a:xfrm>
          <a:prstGeom prst="rect">
            <a:avLst/>
          </a:prstGeom>
          <a:solidFill>
            <a:srgbClr val="FF4138"/>
          </a:solidFill>
          <a:ln w="12700">
            <a:solidFill>
              <a:srgbClr val="FF4138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8368" y="6615684"/>
            <a:ext cx="3108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404200  /  AMSA ARCHITECTS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11201400" y="6611112"/>
            <a:ext cx="411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502920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120" kern="0" dirty="0">
                <a:solidFill>
                  <a:srgbClr val="FF4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WHY SEO TAKES SIX TO TWELVE MONTHS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8412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SEO moves fast. Search takes time.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960120" y="2724912"/>
            <a:ext cx="10058400" cy="0"/>
          </a:xfrm>
          <a:prstGeom prst="line">
            <a:avLst/>
          </a:prstGeom>
          <a:noFill/>
          <a:ln w="2794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542032"/>
            <a:ext cx="384048" cy="384048"/>
          </a:xfrm>
          <a:prstGeom prst="ellipse">
            <a:avLst/>
          </a:prstGeom>
          <a:solidFill>
            <a:srgbClr val="FF4138"/>
          </a:solidFill>
          <a:ln w="10160">
            <a:solidFill>
              <a:srgbClr val="0000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201168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4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MONTHS 1–2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321868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185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3685032"/>
            <a:ext cx="221284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494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Baseline, access, fixes, profiles, first pages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703320" y="2542032"/>
            <a:ext cx="384048" cy="384048"/>
          </a:xfrm>
          <a:prstGeom prst="ellipse">
            <a:avLst/>
          </a:prstGeom>
          <a:solidFill>
            <a:srgbClr val="008A5D"/>
          </a:solidFill>
          <a:ln w="1016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38728" y="201168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8A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MONTHS 3–4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538728" y="321868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EARLY SIGNALS</a:t>
            </a:r>
            <a:endParaRPr lang="en-US" sz="1850" dirty="0"/>
          </a:p>
        </p:txBody>
      </p:sp>
      <p:sp>
        <p:nvSpPr>
          <p:cNvPr id="12" name="Text 10"/>
          <p:cNvSpPr txBox="1"/>
          <p:nvPr/>
        </p:nvSpPr>
        <p:spPr>
          <a:xfrm>
            <a:off x="3538728" y="3685032"/>
            <a:ext cx="221284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494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Indexing, query visibility, first referral patterns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0" y="2542032"/>
            <a:ext cx="384048" cy="384048"/>
          </a:xfrm>
          <a:prstGeom prst="ellipse">
            <a:avLst/>
          </a:prstGeom>
          <a:solidFill>
            <a:srgbClr val="B18400"/>
          </a:solidFill>
          <a:ln w="1016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36208" y="201168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B18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MONTHS 5–6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236208" y="321868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</a:t>
            </a:r>
            <a:endParaRPr lang="en-US" sz="1850" dirty="0"/>
          </a:p>
        </p:txBody>
      </p:sp>
      <p:sp>
        <p:nvSpPr>
          <p:cNvPr id="16" name="Text 14"/>
          <p:cNvSpPr txBox="1"/>
          <p:nvPr/>
        </p:nvSpPr>
        <p:spPr>
          <a:xfrm>
            <a:off x="6236208" y="3685032"/>
            <a:ext cx="221284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494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Enough work and data to compare themes and pages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098280" y="2542032"/>
            <a:ext cx="384048" cy="384048"/>
          </a:xfrm>
          <a:prstGeom prst="ellipse">
            <a:avLst/>
          </a:prstGeom>
          <a:solidFill>
            <a:srgbClr val="FF4138"/>
          </a:solidFill>
          <a:ln w="1016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933688" y="201168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4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MONTHS 7–12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933688" y="321868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COMPOUNDING</a:t>
            </a:r>
            <a:endParaRPr lang="en-US" sz="1850" dirty="0"/>
          </a:p>
        </p:txBody>
      </p:sp>
      <p:sp>
        <p:nvSpPr>
          <p:cNvPr id="20" name="Text 18"/>
          <p:cNvSpPr txBox="1"/>
          <p:nvPr/>
        </p:nvSpPr>
        <p:spPr>
          <a:xfrm>
            <a:off x="8933688" y="3685032"/>
            <a:ext cx="221284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494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Deeper content, links, mentions and repeated refinement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1792" y="5285232"/>
            <a:ext cx="10972800" cy="841248"/>
          </a:xfrm>
          <a:prstGeom prst="rect">
            <a:avLst/>
          </a:prstGeom>
          <a:solidFill>
            <a:srgbClr val="FFFAF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96112" y="5532120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4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CHANGES THE PACE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2788920" y="5522976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Competition · site history · publishing pace · approvals · difficulty · recrawling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2608" y="6611112"/>
            <a:ext cx="246888" cy="164592"/>
          </a:xfrm>
          <a:prstGeom prst="rect">
            <a:avLst/>
          </a:prstGeom>
          <a:solidFill>
            <a:srgbClr val="FF4138"/>
          </a:solidFill>
          <a:ln w="12700">
            <a:solidFill>
              <a:srgbClr val="FF4138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8368" y="6615684"/>
            <a:ext cx="3108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404200  /  AMSA ARCHITECTS</a:t>
            </a:r>
            <a:endParaRPr lang="en-US" sz="750" dirty="0"/>
          </a:p>
        </p:txBody>
      </p:sp>
      <p:sp>
        <p:nvSpPr>
          <p:cNvPr id="27" name="Text 25"/>
          <p:cNvSpPr txBox="1"/>
          <p:nvPr/>
        </p:nvSpPr>
        <p:spPr>
          <a:xfrm>
            <a:off x="11201400" y="6611112"/>
            <a:ext cx="411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502920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120" kern="0" dirty="0">
                <a:solidFill>
                  <a:srgbClr val="FF4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SIX-MONTH OPERATING PLAN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841248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Six months of focused, visible progress.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21792" y="1847088"/>
            <a:ext cx="128016" cy="1417320"/>
          </a:xfrm>
          <a:prstGeom prst="rect">
            <a:avLst/>
          </a:prstGeom>
          <a:solidFill>
            <a:srgbClr val="FF4138"/>
          </a:solidFill>
          <a:ln w="12700">
            <a:solidFill>
              <a:srgbClr val="FF4138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50976" y="1874520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4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517904" y="184708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50976" y="2414016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494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Access, measurement, crawl, first correction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4325112" y="1847088"/>
            <a:ext cx="128016" cy="1417320"/>
          </a:xfrm>
          <a:prstGeom prst="rect">
            <a:avLst/>
          </a:prstGeom>
          <a:solidFill>
            <a:srgbClr val="008A5D"/>
          </a:solidFill>
          <a:ln w="12700">
            <a:solidFill>
              <a:srgbClr val="008A5D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54296" y="1874520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8A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221224" y="184708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654296" y="2414016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494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project story, social cycle, templates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8028432" y="1847088"/>
            <a:ext cx="128016" cy="1417320"/>
          </a:xfrm>
          <a:prstGeom prst="rect">
            <a:avLst/>
          </a:prstGeom>
          <a:solidFill>
            <a:srgbClr val="B18400"/>
          </a:solidFill>
          <a:ln w="12700">
            <a:solidFill>
              <a:srgbClr val="B18400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57616" y="1874520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B18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924544" y="184708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RELEASE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8357616" y="2414016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494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Second cycle, site QA, approved launch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621792" y="3785616"/>
            <a:ext cx="128016" cy="1417320"/>
          </a:xfrm>
          <a:prstGeom prst="rect">
            <a:avLst/>
          </a:prstGeom>
          <a:solidFill>
            <a:srgbClr val="FF4138"/>
          </a:solidFill>
          <a:ln w="12700">
            <a:solidFill>
              <a:srgbClr val="FF4138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50976" y="3813048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4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517904" y="3785616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950976" y="4352544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494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 gaining pages; complete priority profiles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4325112" y="3785616"/>
            <a:ext cx="128016" cy="1417320"/>
          </a:xfrm>
          <a:prstGeom prst="rect">
            <a:avLst/>
          </a:prstGeom>
          <a:solidFill>
            <a:srgbClr val="008A5D"/>
          </a:solidFill>
          <a:ln w="12700">
            <a:solidFill>
              <a:srgbClr val="008A5D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54296" y="3813048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8A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221224" y="3785616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AUTHORITY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4654296" y="4352544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494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Awards, collaborators and editorial submissions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8028432" y="3785616"/>
            <a:ext cx="128016" cy="1417320"/>
          </a:xfrm>
          <a:prstGeom prst="rect">
            <a:avLst/>
          </a:prstGeom>
          <a:solidFill>
            <a:srgbClr val="B18400"/>
          </a:solidFill>
          <a:ln w="12700">
            <a:solidFill>
              <a:srgbClr val="B18400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357616" y="3813048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B18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924544" y="3785616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8357616" y="4352544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494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Six-month evidence review and next recommendation</a:t>
            </a:r>
            <a:endParaRPr lang="en-US" sz="1650" dirty="0"/>
          </a:p>
        </p:txBody>
      </p:sp>
      <p:sp>
        <p:nvSpPr>
          <p:cNvPr id="28" name="Text 26"/>
          <p:cNvSpPr txBox="1"/>
          <p:nvPr/>
        </p:nvSpPr>
        <p:spPr>
          <a:xfrm>
            <a:off x="804672" y="5888736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Six months is the first meaningful evaluation point — AMSA keeps the right to end at any time.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92608" y="6611112"/>
            <a:ext cx="246888" cy="164592"/>
          </a:xfrm>
          <a:prstGeom prst="rect">
            <a:avLst/>
          </a:prstGeom>
          <a:solidFill>
            <a:srgbClr val="FF4138"/>
          </a:solidFill>
          <a:ln w="12700">
            <a:solidFill>
              <a:srgbClr val="FF4138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58368" y="6615684"/>
            <a:ext cx="3108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404200  /  AMSA ARCHITECTS</a:t>
            </a:r>
            <a:endParaRPr lang="en-US" sz="750" dirty="0"/>
          </a:p>
        </p:txBody>
      </p:sp>
      <p:sp>
        <p:nvSpPr>
          <p:cNvPr id="32" name="Text 30"/>
          <p:cNvSpPr txBox="1"/>
          <p:nvPr/>
        </p:nvSpPr>
        <p:spPr>
          <a:xfrm>
            <a:off x="11201400" y="6611112"/>
            <a:ext cx="411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502920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120" kern="0" dirty="0">
                <a:solidFill>
                  <a:srgbClr val="FF4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MEASUREMENT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8412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Visibility should lead to qualified action.</a:t>
            </a:r>
            <a:endParaRPr lang="en-US" sz="3900" dirty="0"/>
          </a:p>
        </p:txBody>
      </p:sp>
      <p:pic>
        <p:nvPicPr>
          <p:cNvPr id="4" name="Image 0" descr="C:\Users\User\Desktop\CLEINTS PITCH\tmp\amsa_meeting_pack\converted\404200_amsa_vill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1792" y="1847088"/>
            <a:ext cx="5532120" cy="4297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1792" y="5138928"/>
            <a:ext cx="5532120" cy="1005840"/>
          </a:xfrm>
          <a:prstGeom prst="rect">
            <a:avLst/>
          </a:prstGeom>
          <a:solidFill>
            <a:srgbClr val="000000">
              <a:alpha val="96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96112" y="5404104"/>
            <a:ext cx="4956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discovery to enquiry.</a:t>
            </a:r>
            <a:endParaRPr lang="en-US" sz="2300" dirty="0"/>
          </a:p>
        </p:txBody>
      </p:sp>
      <p:sp>
        <p:nvSpPr>
          <p:cNvPr id="7" name="Text 4"/>
          <p:cNvSpPr txBox="1"/>
          <p:nvPr/>
        </p:nvSpPr>
        <p:spPr>
          <a:xfrm>
            <a:off x="6629400" y="1865376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4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168896" y="1847088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VISIBILITY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741664" y="182880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Relevant impressions and query coverage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7168896" y="2441448"/>
            <a:ext cx="4087368" cy="0"/>
          </a:xfrm>
          <a:prstGeom prst="line">
            <a:avLst/>
          </a:prstGeom>
          <a:noFill/>
          <a:ln w="7620">
            <a:solidFill>
              <a:srgbClr val="D8D1C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629400" y="2688336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8A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168896" y="2670048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INTEREST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741664" y="265176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Clicks, priority-page visits and project depth</a:t>
            </a:r>
            <a:endParaRPr lang="en-US" sz="1650" dirty="0"/>
          </a:p>
        </p:txBody>
      </p:sp>
      <p:sp>
        <p:nvSpPr>
          <p:cNvPr id="14" name="Shape 11"/>
          <p:cNvSpPr/>
          <p:nvPr/>
        </p:nvSpPr>
        <p:spPr>
          <a:xfrm>
            <a:off x="7168896" y="3264408"/>
            <a:ext cx="4087368" cy="0"/>
          </a:xfrm>
          <a:prstGeom prst="line">
            <a:avLst/>
          </a:prstGeom>
          <a:noFill/>
          <a:ln w="7620">
            <a:solidFill>
              <a:srgbClr val="D8D1C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629400" y="3511296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B18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168896" y="3493008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DISTRIBUTION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8741664" y="347472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 referrals, saves and publication links</a:t>
            </a:r>
            <a:endParaRPr lang="en-US" sz="1650" dirty="0"/>
          </a:p>
        </p:txBody>
      </p:sp>
      <p:sp>
        <p:nvSpPr>
          <p:cNvPr id="18" name="Shape 15"/>
          <p:cNvSpPr/>
          <p:nvPr/>
        </p:nvSpPr>
        <p:spPr>
          <a:xfrm>
            <a:off x="7168896" y="4087368"/>
            <a:ext cx="4087368" cy="0"/>
          </a:xfrm>
          <a:prstGeom prst="line">
            <a:avLst/>
          </a:prstGeom>
          <a:noFill/>
          <a:ln w="7620">
            <a:solidFill>
              <a:srgbClr val="D8D1C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629400" y="4334256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4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7168896" y="4315968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8741664" y="429768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Contact clicks, forms and qualified enquiries</a:t>
            </a:r>
            <a:endParaRPr lang="en-US" sz="1650" dirty="0"/>
          </a:p>
        </p:txBody>
      </p:sp>
      <p:sp>
        <p:nvSpPr>
          <p:cNvPr id="22" name="Shape 19"/>
          <p:cNvSpPr/>
          <p:nvPr/>
        </p:nvSpPr>
        <p:spPr>
          <a:xfrm>
            <a:off x="7168896" y="4910328"/>
            <a:ext cx="4087368" cy="0"/>
          </a:xfrm>
          <a:prstGeom prst="line">
            <a:avLst/>
          </a:prstGeom>
          <a:noFill/>
          <a:ln w="7620">
            <a:solidFill>
              <a:srgbClr val="D8D1C5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629400" y="5157216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8A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7168896" y="5138928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DELIVERY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8741664" y="512064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Completed work, live URLs and next priority</a:t>
            </a:r>
            <a:endParaRPr lang="en-US" sz="1650" dirty="0"/>
          </a:p>
        </p:txBody>
      </p:sp>
      <p:sp>
        <p:nvSpPr>
          <p:cNvPr id="26" name="Shape 23"/>
          <p:cNvSpPr/>
          <p:nvPr/>
        </p:nvSpPr>
        <p:spPr>
          <a:xfrm>
            <a:off x="7168896" y="5733288"/>
            <a:ext cx="4087368" cy="0"/>
          </a:xfrm>
          <a:prstGeom prst="line">
            <a:avLst/>
          </a:prstGeom>
          <a:noFill/>
          <a:ln w="7620">
            <a:solidFill>
              <a:srgbClr val="D8D1C5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92608" y="6611112"/>
            <a:ext cx="246888" cy="164592"/>
          </a:xfrm>
          <a:prstGeom prst="rect">
            <a:avLst/>
          </a:prstGeom>
          <a:solidFill>
            <a:srgbClr val="FF4138"/>
          </a:solidFill>
          <a:ln w="12700">
            <a:solidFill>
              <a:srgbClr val="FF4138">
                <a:alpha val="0"/>
              </a:srgbClr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" y="6615684"/>
            <a:ext cx="3108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404200  /  AMSA ARCHITECTS</a:t>
            </a:r>
            <a:endParaRPr lang="en-US" sz="750" dirty="0"/>
          </a:p>
        </p:txBody>
      </p:sp>
      <p:sp>
        <p:nvSpPr>
          <p:cNvPr id="30" name="Text 27"/>
          <p:cNvSpPr txBox="1"/>
          <p:nvPr/>
        </p:nvSpPr>
        <p:spPr>
          <a:xfrm>
            <a:off x="11201400" y="6611112"/>
            <a:ext cx="411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502920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120" kern="0" dirty="0">
                <a:solidFill>
                  <a:srgbClr val="FF4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COMMERCIAL TERMS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8412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rate. Two options. Exit anytime.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621792" y="1627632"/>
            <a:ext cx="2834640" cy="44988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2249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€350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907792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spc="120" kern="0" dirty="0">
                <a:solidFill>
                  <a:srgbClr val="FF4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 MONTH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3694176"/>
            <a:ext cx="221284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Reserved capacity across search, content, social, local visibility and website implementation.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3749040" y="1627632"/>
            <a:ext cx="3429000" cy="2011680"/>
          </a:xfrm>
          <a:prstGeom prst="rect">
            <a:avLst/>
          </a:prstGeom>
          <a:solidFill>
            <a:srgbClr val="FFFAF0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069080" y="198424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4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□  QUARTERLY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069080" y="2542032"/>
            <a:ext cx="2697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€1,050</a:t>
            </a:r>
            <a:endParaRPr lang="en-US" sz="3100" dirty="0"/>
          </a:p>
        </p:txBody>
      </p:sp>
      <p:sp>
        <p:nvSpPr>
          <p:cNvPr id="11" name="Text 9"/>
          <p:cNvSpPr txBox="1"/>
          <p:nvPr/>
        </p:nvSpPr>
        <p:spPr>
          <a:xfrm>
            <a:off x="4069080" y="3054096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494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Paid every three months in advance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749040" y="3904488"/>
            <a:ext cx="3429000" cy="2221992"/>
          </a:xfrm>
          <a:prstGeom prst="rect">
            <a:avLst/>
          </a:prstGeom>
          <a:solidFill>
            <a:srgbClr val="FFFAF0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069080" y="427939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08A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□  SEMI-ANNUAL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4069080" y="4837176"/>
            <a:ext cx="2697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€2,100</a:t>
            </a:r>
            <a:endParaRPr lang="en-US" sz="3100" dirty="0"/>
          </a:p>
        </p:txBody>
      </p:sp>
      <p:sp>
        <p:nvSpPr>
          <p:cNvPr id="15" name="Text 13"/>
          <p:cNvSpPr txBox="1"/>
          <p:nvPr/>
        </p:nvSpPr>
        <p:spPr>
          <a:xfrm>
            <a:off x="4069080" y="534924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494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Paid every six months in advance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589520" y="1773936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4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RIGHT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7589520" y="2176272"/>
            <a:ext cx="3730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 at any time with written notice.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7589520" y="3182112"/>
            <a:ext cx="3730752" cy="0"/>
          </a:xfrm>
          <a:prstGeom prst="line">
            <a:avLst/>
          </a:prstGeom>
          <a:noFill/>
          <a:ln w="1778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89520" y="3438144"/>
            <a:ext cx="37307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494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Unused complete prepaid months are refunded after completed work and approved external costs are reconciled.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7589520" y="4773168"/>
            <a:ext cx="3730752" cy="1353312"/>
          </a:xfrm>
          <a:prstGeom prst="rect">
            <a:avLst/>
          </a:prstGeom>
          <a:solidFill>
            <a:srgbClr val="ECE8DC"/>
          </a:solidFill>
          <a:ln w="10160">
            <a:solidFill>
              <a:srgbClr val="D8D1C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89520" y="4773168"/>
            <a:ext cx="109728" cy="1353312"/>
          </a:xfrm>
          <a:prstGeom prst="rect">
            <a:avLst/>
          </a:prstGeom>
          <a:solidFill>
            <a:srgbClr val="FF4138"/>
          </a:solidFill>
          <a:ln w="12700">
            <a:solidFill>
              <a:srgbClr val="FF4138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900416" y="5001768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4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SEO RUNWAY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7900416" y="5321808"/>
            <a:ext cx="30906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for six months. AMSA can still end at any time.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2608" y="6611112"/>
            <a:ext cx="246888" cy="164592"/>
          </a:xfrm>
          <a:prstGeom prst="rect">
            <a:avLst/>
          </a:prstGeom>
          <a:solidFill>
            <a:srgbClr val="FF4138"/>
          </a:solidFill>
          <a:ln w="12700">
            <a:solidFill>
              <a:srgbClr val="FF4138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8368" y="6615684"/>
            <a:ext cx="3108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404200  /  AMSA ARCHITECTS</a:t>
            </a:r>
            <a:endParaRPr lang="en-US" sz="750" dirty="0"/>
          </a:p>
        </p:txBody>
      </p:sp>
      <p:sp>
        <p:nvSpPr>
          <p:cNvPr id="27" name="Text 25"/>
          <p:cNvSpPr txBox="1"/>
          <p:nvPr/>
        </p:nvSpPr>
        <p:spPr>
          <a:xfrm>
            <a:off x="11201400" y="6611112"/>
            <a:ext cx="411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esktop\CLEINTS PITCH\tmp\amsa_meeting_pack\converted\AMSA_home_0004-12.png">    </p:cNvPr>
          <p:cNvPicPr>
            <a:picLocks noChangeAspect="1"/>
          </p:cNvPicPr>
          <p:nvPr/>
        </p:nvPicPr>
        <p:blipFill>
          <a:blip r:embed="rId1">
            <a:alphaModFix amt="96000"/>
          </a:blip>
          <a:srcRect l="0" r="0" t="0" b="0"/>
          <a:stretch/>
        </p:blipFill>
        <p:spPr>
          <a:xfrm>
            <a:off x="0" y="0"/>
            <a:ext cx="12191695" cy="2331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874520"/>
            <a:ext cx="12191695" cy="457200"/>
          </a:xfrm>
          <a:prstGeom prst="rect">
            <a:avLst/>
          </a:prstGeom>
          <a:solidFill>
            <a:srgbClr val="000000">
              <a:alpha val="8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" name="Image 1" descr="C:\Users\User\Desktop\CLEINTS PITCH\tmp\amsa_meeting_pack\converted\404200_header_logo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1792" y="2615184"/>
            <a:ext cx="2084832" cy="603504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21792" y="3401568"/>
            <a:ext cx="7269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Approve the six-month plan.</a:t>
            </a:r>
            <a:endParaRPr lang="en-US" sz="3900" dirty="0"/>
          </a:p>
        </p:txBody>
      </p:sp>
      <p:sp>
        <p:nvSpPr>
          <p:cNvPr id="6" name="Text 2"/>
          <p:cNvSpPr txBox="1"/>
          <p:nvPr/>
        </p:nvSpPr>
        <p:spPr>
          <a:xfrm>
            <a:off x="713232" y="4370832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4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1234440" y="4343400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 project + audience</a:t>
            </a:r>
            <a:endParaRPr lang="en-US" sz="1650" dirty="0"/>
          </a:p>
        </p:txBody>
      </p:sp>
      <p:sp>
        <p:nvSpPr>
          <p:cNvPr id="8" name="Text 4"/>
          <p:cNvSpPr txBox="1"/>
          <p:nvPr/>
        </p:nvSpPr>
        <p:spPr>
          <a:xfrm>
            <a:off x="4462272" y="4370832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9E0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4983480" y="4343400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three approved projects</a:t>
            </a:r>
            <a:endParaRPr lang="en-US" sz="1650" dirty="0"/>
          </a:p>
        </p:txBody>
      </p:sp>
      <p:sp>
        <p:nvSpPr>
          <p:cNvPr id="10" name="Text 6"/>
          <p:cNvSpPr txBox="1"/>
          <p:nvPr/>
        </p:nvSpPr>
        <p:spPr>
          <a:xfrm>
            <a:off x="713232" y="5084064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4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1234440" y="5056632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Named approver + access</a:t>
            </a:r>
            <a:endParaRPr lang="en-US" sz="1650" dirty="0"/>
          </a:p>
        </p:txBody>
      </p:sp>
      <p:sp>
        <p:nvSpPr>
          <p:cNvPr id="12" name="Text 8"/>
          <p:cNvSpPr txBox="1"/>
          <p:nvPr/>
        </p:nvSpPr>
        <p:spPr>
          <a:xfrm>
            <a:off x="4462272" y="5084064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9E0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4983480" y="5056632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quarterly or semi-annual</a:t>
            </a:r>
            <a:endParaRPr lang="en-US" sz="1650" dirty="0"/>
          </a:p>
        </p:txBody>
      </p:sp>
      <p:sp>
        <p:nvSpPr>
          <p:cNvPr id="14" name="Shape 10"/>
          <p:cNvSpPr/>
          <p:nvPr/>
        </p:nvSpPr>
        <p:spPr>
          <a:xfrm>
            <a:off x="8485632" y="2816352"/>
            <a:ext cx="3090672" cy="1993392"/>
          </a:xfrm>
          <a:prstGeom prst="rect">
            <a:avLst/>
          </a:prstGeom>
          <a:solidFill>
            <a:srgbClr val="FFFAF0"/>
          </a:solidFill>
          <a:ln w="12700">
            <a:solidFill>
              <a:srgbClr val="FFFAF0">
                <a:alpha val="0"/>
              </a:srgbClr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8833104" y="3200400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4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STEP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8833104" y="3694176"/>
            <a:ext cx="23957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 + schedule</a:t>
            </a:r>
            <a:endParaRPr lang="en-US" sz="2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access session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AF0"/>
          </a:solidFill>
          <a:ln w="12700">
            <a:solidFill>
              <a:srgbClr val="FFFAF0">
                <a:alpha val="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292608" y="6611112"/>
            <a:ext cx="246888" cy="164592"/>
          </a:xfrm>
          <a:prstGeom prst="rect">
            <a:avLst/>
          </a:prstGeom>
          <a:solidFill>
            <a:srgbClr val="FF4138"/>
          </a:solidFill>
          <a:ln w="12700">
            <a:solidFill>
              <a:srgbClr val="FF4138">
                <a:alpha val="0"/>
              </a:srgbClr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58368" y="6615684"/>
            <a:ext cx="3108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404200  /  AMSA ARCHITECTS</a:t>
            </a:r>
            <a:endParaRPr lang="en-US" sz="750" dirty="0"/>
          </a:p>
        </p:txBody>
      </p:sp>
      <p:sp>
        <p:nvSpPr>
          <p:cNvPr id="20" name="Text 16"/>
          <p:cNvSpPr txBox="1"/>
          <p:nvPr/>
        </p:nvSpPr>
        <p:spPr>
          <a:xfrm>
            <a:off x="11201400" y="6611112"/>
            <a:ext cx="411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404200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AMSA Digital Visibility System</dc:title>
  <dc:subject>AMSA Architects digital growth proposal</dc:subject>
  <dc:creator>404200</dc:creator>
  <cp:lastModifiedBy>404200</cp:lastModifiedBy>
  <cp:revision>1</cp:revision>
  <dcterms:created xsi:type="dcterms:W3CDTF">2026-10-20T11:33:15Z</dcterms:created>
  <dcterms:modified xsi:type="dcterms:W3CDTF">2026-10-20T11:33:15Z</dcterms:modified>
</cp:coreProperties>
</file>